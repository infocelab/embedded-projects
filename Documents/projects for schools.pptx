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slides/slide5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Default Extension="gif" ContentType="image/gif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4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6" r:id="rId14"/>
    <p:sldId id="277" r:id="rId15"/>
    <p:sldId id="289" r:id="rId16"/>
    <p:sldId id="278" r:id="rId17"/>
    <p:sldId id="280" r:id="rId18"/>
    <p:sldId id="281" r:id="rId19"/>
    <p:sldId id="288" r:id="rId20"/>
    <p:sldId id="297" r:id="rId21"/>
    <p:sldId id="291" r:id="rId22"/>
    <p:sldId id="301" r:id="rId23"/>
    <p:sldId id="300" r:id="rId24"/>
    <p:sldId id="282" r:id="rId25"/>
    <p:sldId id="302" r:id="rId26"/>
    <p:sldId id="298" r:id="rId27"/>
    <p:sldId id="311" r:id="rId28"/>
    <p:sldId id="303" r:id="rId29"/>
    <p:sldId id="304" r:id="rId30"/>
    <p:sldId id="290" r:id="rId31"/>
    <p:sldId id="305" r:id="rId32"/>
    <p:sldId id="306" r:id="rId33"/>
    <p:sldId id="307" r:id="rId34"/>
    <p:sldId id="308" r:id="rId35"/>
    <p:sldId id="309" r:id="rId36"/>
    <p:sldId id="310" r:id="rId37"/>
    <p:sldId id="268" r:id="rId38"/>
    <p:sldId id="269" r:id="rId39"/>
    <p:sldId id="270" r:id="rId40"/>
    <p:sldId id="272" r:id="rId41"/>
    <p:sldId id="274" r:id="rId42"/>
    <p:sldId id="275" r:id="rId43"/>
    <p:sldId id="279" r:id="rId44"/>
    <p:sldId id="284" r:id="rId45"/>
    <p:sldId id="285" r:id="rId46"/>
    <p:sldId id="286" r:id="rId47"/>
    <p:sldId id="287" r:id="rId48"/>
    <p:sldId id="292" r:id="rId49"/>
    <p:sldId id="293" r:id="rId50"/>
    <p:sldId id="294" r:id="rId51"/>
    <p:sldId id="295" r:id="rId52"/>
    <p:sldId id="296" r:id="rId53"/>
    <p:sldId id="299" r:id="rId54"/>
  </p:sldIdLst>
  <p:sldSz cx="12192000" cy="6858000"/>
  <p:notesSz cx="6858000" cy="99472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220"/>
    </p:ext>
    <p:ext uri="{FD5EFAAD-0ECE-453E-9831-46B23BE46B34}">
      <p15:chartTrackingRefBased xmlns=""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-108" y="-30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FEA4BD-71B3-41DD-B9FF-6FB8DBE50051}" type="datetimeFigureOut">
              <a:rPr lang="en-US" smtClean="0"/>
              <a:pPr/>
              <a:t>1/4/2015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711C3A-4F87-4BC7-A6B1-C1BFCB0B62D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27839866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FEA4BD-71B3-41DD-B9FF-6FB8DBE50051}" type="datetimeFigureOut">
              <a:rPr lang="en-US" smtClean="0"/>
              <a:pPr/>
              <a:t>1/4/2015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711C3A-4F87-4BC7-A6B1-C1BFCB0B62D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33889134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FEA4BD-71B3-41DD-B9FF-6FB8DBE50051}" type="datetimeFigureOut">
              <a:rPr lang="en-US" smtClean="0"/>
              <a:pPr/>
              <a:t>1/4/2015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711C3A-4F87-4BC7-A6B1-C1BFCB0B62D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39984765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FEA4BD-71B3-41DD-B9FF-6FB8DBE50051}" type="datetimeFigureOut">
              <a:rPr lang="en-US" smtClean="0"/>
              <a:pPr/>
              <a:t>1/4/2015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711C3A-4F87-4BC7-A6B1-C1BFCB0B62D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5578063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FEA4BD-71B3-41DD-B9FF-6FB8DBE50051}" type="datetimeFigureOut">
              <a:rPr lang="en-US" smtClean="0"/>
              <a:pPr/>
              <a:t>1/4/2015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711C3A-4F87-4BC7-A6B1-C1BFCB0B62D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969040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FEA4BD-71B3-41DD-B9FF-6FB8DBE50051}" type="datetimeFigureOut">
              <a:rPr lang="en-US" smtClean="0"/>
              <a:pPr/>
              <a:t>1/4/2015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711C3A-4F87-4BC7-A6B1-C1BFCB0B62D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37853365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FEA4BD-71B3-41DD-B9FF-6FB8DBE50051}" type="datetimeFigureOut">
              <a:rPr lang="en-US" smtClean="0"/>
              <a:pPr/>
              <a:t>1/4/2015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711C3A-4F87-4BC7-A6B1-C1BFCB0B62D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39095007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FEA4BD-71B3-41DD-B9FF-6FB8DBE50051}" type="datetimeFigureOut">
              <a:rPr lang="en-US" smtClean="0"/>
              <a:pPr/>
              <a:t>1/4/2015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711C3A-4F87-4BC7-A6B1-C1BFCB0B62D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30154022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FEA4BD-71B3-41DD-B9FF-6FB8DBE50051}" type="datetimeFigureOut">
              <a:rPr lang="en-US" smtClean="0"/>
              <a:pPr/>
              <a:t>1/4/2015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711C3A-4F87-4BC7-A6B1-C1BFCB0B62D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26120296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FEA4BD-71B3-41DD-B9FF-6FB8DBE50051}" type="datetimeFigureOut">
              <a:rPr lang="en-US" smtClean="0"/>
              <a:pPr/>
              <a:t>1/4/2015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711C3A-4F87-4BC7-A6B1-C1BFCB0B62D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5536574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FEA4BD-71B3-41DD-B9FF-6FB8DBE50051}" type="datetimeFigureOut">
              <a:rPr lang="en-US" smtClean="0"/>
              <a:pPr/>
              <a:t>1/4/2015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711C3A-4F87-4BC7-A6B1-C1BFCB0B62D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2190105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FEA4BD-71B3-41DD-B9FF-6FB8DBE50051}" type="datetimeFigureOut">
              <a:rPr lang="en-US" smtClean="0"/>
              <a:pPr/>
              <a:t>1/4/2015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711C3A-4F87-4BC7-A6B1-C1BFCB0B62D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714597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gif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gif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gif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gif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gif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owchart: Process 3"/>
          <p:cNvSpPr/>
          <p:nvPr/>
        </p:nvSpPr>
        <p:spPr>
          <a:xfrm>
            <a:off x="627797" y="532263"/>
            <a:ext cx="45719" cy="2033516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95534" y="2579427"/>
            <a:ext cx="1078173" cy="6823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288879" y="2854659"/>
            <a:ext cx="693764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13729" y="3048003"/>
            <a:ext cx="1078173" cy="6823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279779" y="3295937"/>
            <a:ext cx="675568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lowchart: Process 8"/>
          <p:cNvSpPr/>
          <p:nvPr/>
        </p:nvSpPr>
        <p:spPr>
          <a:xfrm>
            <a:off x="617563" y="3341655"/>
            <a:ext cx="45719" cy="2977257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30069" y="507240"/>
            <a:ext cx="3969224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Flowchart: Process 10"/>
          <p:cNvSpPr/>
          <p:nvPr/>
        </p:nvSpPr>
        <p:spPr>
          <a:xfrm>
            <a:off x="4576555" y="496634"/>
            <a:ext cx="4786716" cy="52333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lowchart: Process 12"/>
          <p:cNvSpPr/>
          <p:nvPr/>
        </p:nvSpPr>
        <p:spPr>
          <a:xfrm flipH="1" flipV="1">
            <a:off x="4242176" y="552959"/>
            <a:ext cx="45719" cy="1723968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lowchart: Process 15"/>
          <p:cNvSpPr/>
          <p:nvPr/>
        </p:nvSpPr>
        <p:spPr>
          <a:xfrm flipV="1">
            <a:off x="4214069" y="2795397"/>
            <a:ext cx="73251" cy="147948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lowchart: Process 16"/>
          <p:cNvSpPr/>
          <p:nvPr/>
        </p:nvSpPr>
        <p:spPr>
          <a:xfrm flipH="1" flipV="1">
            <a:off x="4214069" y="4828122"/>
            <a:ext cx="45719" cy="1489653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lowchart: Process 17"/>
          <p:cNvSpPr/>
          <p:nvPr/>
        </p:nvSpPr>
        <p:spPr>
          <a:xfrm>
            <a:off x="630068" y="6303758"/>
            <a:ext cx="8756061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lowchart: Process 18"/>
          <p:cNvSpPr/>
          <p:nvPr/>
        </p:nvSpPr>
        <p:spPr>
          <a:xfrm flipH="1" flipV="1">
            <a:off x="9317552" y="562021"/>
            <a:ext cx="45719" cy="1579734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lowchart: Process 19"/>
          <p:cNvSpPr/>
          <p:nvPr/>
        </p:nvSpPr>
        <p:spPr>
          <a:xfrm flipV="1">
            <a:off x="7784536" y="2089030"/>
            <a:ext cx="3034514" cy="65604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lowchart: Process 20"/>
          <p:cNvSpPr/>
          <p:nvPr/>
        </p:nvSpPr>
        <p:spPr>
          <a:xfrm flipH="1" flipV="1">
            <a:off x="7771629" y="2080143"/>
            <a:ext cx="45719" cy="1487378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lowchart: Process 21"/>
          <p:cNvSpPr/>
          <p:nvPr/>
        </p:nvSpPr>
        <p:spPr>
          <a:xfrm flipH="1" flipV="1">
            <a:off x="10773331" y="2110970"/>
            <a:ext cx="45719" cy="1487378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lowchart: Process 24"/>
          <p:cNvSpPr/>
          <p:nvPr/>
        </p:nvSpPr>
        <p:spPr>
          <a:xfrm flipH="1" flipV="1">
            <a:off x="7784536" y="3776902"/>
            <a:ext cx="45719" cy="1487378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lowchart: Process 25"/>
          <p:cNvSpPr/>
          <p:nvPr/>
        </p:nvSpPr>
        <p:spPr>
          <a:xfrm flipH="1" flipV="1">
            <a:off x="10773331" y="3705709"/>
            <a:ext cx="45719" cy="1487378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lowchart: Process 27"/>
          <p:cNvSpPr/>
          <p:nvPr/>
        </p:nvSpPr>
        <p:spPr>
          <a:xfrm flipV="1">
            <a:off x="7784536" y="5215027"/>
            <a:ext cx="3034514" cy="47645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lowchart: Process 28"/>
          <p:cNvSpPr/>
          <p:nvPr/>
        </p:nvSpPr>
        <p:spPr>
          <a:xfrm flipH="1" flipV="1">
            <a:off x="9340411" y="5237887"/>
            <a:ext cx="45719" cy="1078750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71087" y="1716262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+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17290" y="3355894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-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8527045" y="6375941"/>
            <a:ext cx="1549495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Parallel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5" name="Bent Arrow 34"/>
          <p:cNvSpPr/>
          <p:nvPr/>
        </p:nvSpPr>
        <p:spPr>
          <a:xfrm rot="5400000">
            <a:off x="3250515" y="668839"/>
            <a:ext cx="813816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1808038" y="906042"/>
            <a:ext cx="1754028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Current=X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7" name="Bent Arrow 36"/>
          <p:cNvSpPr/>
          <p:nvPr/>
        </p:nvSpPr>
        <p:spPr>
          <a:xfrm rot="5400000">
            <a:off x="8415293" y="616235"/>
            <a:ext cx="813816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7068173" y="826414"/>
            <a:ext cx="1754028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Current=Y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112997" y="3080045"/>
            <a:ext cx="1754028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Current=X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1732267" y="5506912"/>
            <a:ext cx="1754028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Current=X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1" name="Down Arrow 40"/>
          <p:cNvSpPr/>
          <p:nvPr/>
        </p:nvSpPr>
        <p:spPr>
          <a:xfrm>
            <a:off x="3686391" y="3123906"/>
            <a:ext cx="484632" cy="801232"/>
          </a:xfrm>
          <a:prstGeom prst="down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Bent Arrow 41"/>
          <p:cNvSpPr/>
          <p:nvPr/>
        </p:nvSpPr>
        <p:spPr>
          <a:xfrm rot="10800000">
            <a:off x="3277947" y="5393223"/>
            <a:ext cx="813816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3223083" y="6357607"/>
            <a:ext cx="1549495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Series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747436" y="1982395"/>
            <a:ext cx="1549495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BATTERY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7365592" y="5473661"/>
            <a:ext cx="1677077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Current=Y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9" name="Bent Arrow 48"/>
          <p:cNvSpPr/>
          <p:nvPr/>
        </p:nvSpPr>
        <p:spPr>
          <a:xfrm rot="10800000">
            <a:off x="8415293" y="5418305"/>
            <a:ext cx="813816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8314204" y="3926741"/>
            <a:ext cx="1930862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Current=Y/2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2012571" y="-5715"/>
            <a:ext cx="7216538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Series / Parallel Circuit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3" name="Down Arrow 52"/>
          <p:cNvSpPr/>
          <p:nvPr/>
        </p:nvSpPr>
        <p:spPr>
          <a:xfrm>
            <a:off x="7902679" y="4168674"/>
            <a:ext cx="484632" cy="978408"/>
          </a:xfrm>
          <a:prstGeom prst="down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Down Arrow 53"/>
          <p:cNvSpPr/>
          <p:nvPr/>
        </p:nvSpPr>
        <p:spPr>
          <a:xfrm>
            <a:off x="10242113" y="4153744"/>
            <a:ext cx="484632" cy="978408"/>
          </a:xfrm>
          <a:prstGeom prst="down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Bent Arrow 54"/>
          <p:cNvSpPr/>
          <p:nvPr/>
        </p:nvSpPr>
        <p:spPr>
          <a:xfrm rot="5400000">
            <a:off x="9861439" y="2199227"/>
            <a:ext cx="813816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Bent Arrow 55"/>
          <p:cNvSpPr/>
          <p:nvPr/>
        </p:nvSpPr>
        <p:spPr>
          <a:xfrm rot="16200000" flipH="1">
            <a:off x="7962525" y="2174702"/>
            <a:ext cx="748988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5009784" y="1903465"/>
            <a:ext cx="731289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LED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5034855" y="4024903"/>
            <a:ext cx="731289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LED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6669228" y="3201517"/>
            <a:ext cx="731289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LED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9396545" y="3081494"/>
            <a:ext cx="731289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LED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9" name="Isosceles Triangle 58"/>
          <p:cNvSpPr/>
          <p:nvPr/>
        </p:nvSpPr>
        <p:spPr>
          <a:xfrm rot="10800000">
            <a:off x="3990621" y="2165075"/>
            <a:ext cx="529681" cy="672326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lowchart: Process 59"/>
          <p:cNvSpPr/>
          <p:nvPr/>
        </p:nvSpPr>
        <p:spPr>
          <a:xfrm rot="10800000">
            <a:off x="3815316" y="2761982"/>
            <a:ext cx="896440" cy="47172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5" name="Isosceles Triangle 64"/>
          <p:cNvSpPr/>
          <p:nvPr/>
        </p:nvSpPr>
        <p:spPr>
          <a:xfrm rot="10800000">
            <a:off x="3976909" y="4262950"/>
            <a:ext cx="529681" cy="672326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lowchart: Process 65"/>
          <p:cNvSpPr/>
          <p:nvPr/>
        </p:nvSpPr>
        <p:spPr>
          <a:xfrm rot="10800000">
            <a:off x="3814483" y="4859857"/>
            <a:ext cx="896440" cy="47172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7" name="Isosceles Triangle 66"/>
          <p:cNvSpPr/>
          <p:nvPr/>
        </p:nvSpPr>
        <p:spPr>
          <a:xfrm rot="10800000">
            <a:off x="7517289" y="3309148"/>
            <a:ext cx="529681" cy="672326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Flowchart: Process 67"/>
          <p:cNvSpPr/>
          <p:nvPr/>
        </p:nvSpPr>
        <p:spPr>
          <a:xfrm rot="10800000">
            <a:off x="7341984" y="3906055"/>
            <a:ext cx="896440" cy="47172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9" name="Isosceles Triangle 68"/>
          <p:cNvSpPr/>
          <p:nvPr/>
        </p:nvSpPr>
        <p:spPr>
          <a:xfrm rot="10800000">
            <a:off x="10528800" y="3216847"/>
            <a:ext cx="529681" cy="672326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lowchart: Process 69"/>
          <p:cNvSpPr/>
          <p:nvPr/>
        </p:nvSpPr>
        <p:spPr>
          <a:xfrm rot="10800000">
            <a:off x="10353495" y="3813754"/>
            <a:ext cx="896440" cy="47172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1" name="Straight Arrow Connector 60"/>
          <p:cNvCxnSpPr/>
          <p:nvPr/>
        </p:nvCxnSpPr>
        <p:spPr>
          <a:xfrm>
            <a:off x="4767906" y="2275708"/>
            <a:ext cx="297940" cy="354584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/>
          <p:nvPr/>
        </p:nvCxnSpPr>
        <p:spPr>
          <a:xfrm>
            <a:off x="4525329" y="2385179"/>
            <a:ext cx="399124" cy="422405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/>
          <p:cNvCxnSpPr/>
          <p:nvPr/>
        </p:nvCxnSpPr>
        <p:spPr>
          <a:xfrm>
            <a:off x="4767901" y="4349206"/>
            <a:ext cx="297940" cy="354584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>
            <a:off x="4525324" y="4458677"/>
            <a:ext cx="399124" cy="422405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/>
          <p:cNvCxnSpPr/>
          <p:nvPr/>
        </p:nvCxnSpPr>
        <p:spPr>
          <a:xfrm>
            <a:off x="8238424" y="3404637"/>
            <a:ext cx="343349" cy="346116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/>
          <p:cNvCxnSpPr/>
          <p:nvPr/>
        </p:nvCxnSpPr>
        <p:spPr>
          <a:xfrm>
            <a:off x="8041256" y="3505640"/>
            <a:ext cx="399124" cy="422405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/>
          <p:nvPr/>
        </p:nvCxnSpPr>
        <p:spPr>
          <a:xfrm flipH="1">
            <a:off x="10152743" y="3480488"/>
            <a:ext cx="331686" cy="371127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/>
          <p:nvPr/>
        </p:nvCxnSpPr>
        <p:spPr>
          <a:xfrm flipH="1">
            <a:off x="10027773" y="3377076"/>
            <a:ext cx="319390" cy="361072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20979600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46203" y="19411"/>
            <a:ext cx="1169961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Conducting or Non-Conducting Material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35992" y="3646232"/>
            <a:ext cx="693764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926892" y="4087510"/>
            <a:ext cx="675568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07399" y="2494396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+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42647" y="3371000"/>
            <a:ext cx="1078173" cy="6823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779615" y="3850722"/>
            <a:ext cx="1078173" cy="6823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524394" y="4148927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-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3" name="Flowchart: Process 12"/>
          <p:cNvSpPr/>
          <p:nvPr/>
        </p:nvSpPr>
        <p:spPr>
          <a:xfrm>
            <a:off x="1303464" y="1318867"/>
            <a:ext cx="45719" cy="2033516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Flowchart: Process 13"/>
          <p:cNvSpPr/>
          <p:nvPr/>
        </p:nvSpPr>
        <p:spPr>
          <a:xfrm>
            <a:off x="1274910" y="4148927"/>
            <a:ext cx="45719" cy="2033516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Flowchart: Process 14"/>
          <p:cNvSpPr/>
          <p:nvPr/>
        </p:nvSpPr>
        <p:spPr>
          <a:xfrm>
            <a:off x="1326323" y="1326738"/>
            <a:ext cx="3969224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lowchart: Process 15"/>
          <p:cNvSpPr/>
          <p:nvPr/>
        </p:nvSpPr>
        <p:spPr>
          <a:xfrm>
            <a:off x="1297769" y="6152422"/>
            <a:ext cx="9162311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lowchart: Process 17"/>
          <p:cNvSpPr/>
          <p:nvPr/>
        </p:nvSpPr>
        <p:spPr>
          <a:xfrm>
            <a:off x="5941312" y="1326738"/>
            <a:ext cx="4444733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lowchart: Process 18"/>
          <p:cNvSpPr/>
          <p:nvPr/>
        </p:nvSpPr>
        <p:spPr>
          <a:xfrm>
            <a:off x="10421184" y="4544703"/>
            <a:ext cx="45719" cy="1622041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Flowchart: Process 19"/>
          <p:cNvSpPr/>
          <p:nvPr/>
        </p:nvSpPr>
        <p:spPr>
          <a:xfrm>
            <a:off x="10398324" y="1326738"/>
            <a:ext cx="61756" cy="1619498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Flowchart: Connector 20"/>
          <p:cNvSpPr/>
          <p:nvPr/>
        </p:nvSpPr>
        <p:spPr>
          <a:xfrm>
            <a:off x="10189170" y="2727871"/>
            <a:ext cx="457200" cy="457200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lowchart: Connector 22"/>
          <p:cNvSpPr/>
          <p:nvPr/>
        </p:nvSpPr>
        <p:spPr>
          <a:xfrm>
            <a:off x="10218738" y="4176811"/>
            <a:ext cx="457200" cy="457200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4858087" y="2500756"/>
            <a:ext cx="1371373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LED</a:t>
            </a:r>
            <a:endParaRPr lang="en-US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1394549" y="2719376"/>
            <a:ext cx="1549495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BATTERY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2" name="Bent Arrow 21"/>
          <p:cNvSpPr/>
          <p:nvPr/>
        </p:nvSpPr>
        <p:spPr>
          <a:xfrm>
            <a:off x="1664913" y="1507084"/>
            <a:ext cx="2637157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6" name="Bent Arrow 25"/>
          <p:cNvSpPr/>
          <p:nvPr/>
        </p:nvSpPr>
        <p:spPr>
          <a:xfrm rot="5400000">
            <a:off x="8427147" y="581838"/>
            <a:ext cx="813816" cy="2857406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Bent Arrow 26"/>
          <p:cNvSpPr/>
          <p:nvPr/>
        </p:nvSpPr>
        <p:spPr>
          <a:xfrm rot="10800000">
            <a:off x="9421510" y="5190634"/>
            <a:ext cx="813816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Bent Arrow 27"/>
          <p:cNvSpPr/>
          <p:nvPr/>
        </p:nvSpPr>
        <p:spPr>
          <a:xfrm rot="16200000">
            <a:off x="1450880" y="5153961"/>
            <a:ext cx="813816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Down Arrow 28"/>
          <p:cNvSpPr/>
          <p:nvPr/>
        </p:nvSpPr>
        <p:spPr>
          <a:xfrm rot="5400000">
            <a:off x="5720866" y="4108537"/>
            <a:ext cx="484632" cy="3322222"/>
          </a:xfrm>
          <a:prstGeom prst="down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0" name="Isosceles Triangle 29"/>
          <p:cNvSpPr/>
          <p:nvPr/>
        </p:nvSpPr>
        <p:spPr>
          <a:xfrm rot="5400000">
            <a:off x="5327092" y="1017254"/>
            <a:ext cx="529681" cy="672326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lowchart: Process 30"/>
          <p:cNvSpPr/>
          <p:nvPr/>
        </p:nvSpPr>
        <p:spPr>
          <a:xfrm rot="5400000">
            <a:off x="5467481" y="1316594"/>
            <a:ext cx="896440" cy="47172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2" name="Straight Arrow Connector 31"/>
          <p:cNvCxnSpPr/>
          <p:nvPr/>
        </p:nvCxnSpPr>
        <p:spPr>
          <a:xfrm>
            <a:off x="5592150" y="1631765"/>
            <a:ext cx="297940" cy="354584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/>
          <p:nvPr/>
        </p:nvCxnSpPr>
        <p:spPr>
          <a:xfrm>
            <a:off x="5349573" y="1741236"/>
            <a:ext cx="399124" cy="422405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8178085" y="3361173"/>
            <a:ext cx="2079023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Connectors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="" xmlns:p14="http://schemas.microsoft.com/office/powerpoint/2010/main" val="17080023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24317" y="246861"/>
            <a:ext cx="4586512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Nuclear Fission </a:t>
            </a:r>
          </a:p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Chain Reaction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Flowchart: Connector 4"/>
          <p:cNvSpPr/>
          <p:nvPr/>
        </p:nvSpPr>
        <p:spPr>
          <a:xfrm>
            <a:off x="327117" y="3468826"/>
            <a:ext cx="457200" cy="457200"/>
          </a:xfrm>
          <a:prstGeom prst="flowChartConnector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lowchart: Connector 5"/>
          <p:cNvSpPr/>
          <p:nvPr/>
        </p:nvSpPr>
        <p:spPr>
          <a:xfrm>
            <a:off x="3068472" y="4450306"/>
            <a:ext cx="457200" cy="457200"/>
          </a:xfrm>
          <a:prstGeom prst="flowChartConnector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lowchart: Connector 6"/>
          <p:cNvSpPr/>
          <p:nvPr/>
        </p:nvSpPr>
        <p:spPr>
          <a:xfrm>
            <a:off x="3068472" y="2070394"/>
            <a:ext cx="457200" cy="457200"/>
          </a:xfrm>
          <a:prstGeom prst="flowChartConnector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lowchart: Connector 7"/>
          <p:cNvSpPr/>
          <p:nvPr/>
        </p:nvSpPr>
        <p:spPr>
          <a:xfrm>
            <a:off x="6222524" y="2780281"/>
            <a:ext cx="457200" cy="457200"/>
          </a:xfrm>
          <a:prstGeom prst="flowChartConnector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lowchart: Connector 8"/>
          <p:cNvSpPr/>
          <p:nvPr/>
        </p:nvSpPr>
        <p:spPr>
          <a:xfrm>
            <a:off x="6222524" y="1084417"/>
            <a:ext cx="457200" cy="457200"/>
          </a:xfrm>
          <a:prstGeom prst="flowChartConnector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lowchart: Connector 9"/>
          <p:cNvSpPr/>
          <p:nvPr/>
        </p:nvSpPr>
        <p:spPr>
          <a:xfrm>
            <a:off x="6222524" y="5502000"/>
            <a:ext cx="457200" cy="457200"/>
          </a:xfrm>
          <a:prstGeom prst="flowChartConnector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lowchart: Connector 10"/>
          <p:cNvSpPr/>
          <p:nvPr/>
        </p:nvSpPr>
        <p:spPr>
          <a:xfrm>
            <a:off x="6247795" y="3926026"/>
            <a:ext cx="457200" cy="457200"/>
          </a:xfrm>
          <a:prstGeom prst="flowChartConnector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0758" y="3191855"/>
            <a:ext cx="636541" cy="96257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646" y="1824459"/>
            <a:ext cx="636541" cy="962574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5847" y="4303063"/>
            <a:ext cx="636541" cy="962574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4510" y="415251"/>
            <a:ext cx="636541" cy="962574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4509" y="5856976"/>
            <a:ext cx="636541" cy="962574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4510" y="3994499"/>
            <a:ext cx="636541" cy="962574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8380" y="2440066"/>
            <a:ext cx="636541" cy="962574"/>
          </a:xfrm>
          <a:prstGeom prst="rect">
            <a:avLst/>
          </a:prstGeom>
        </p:spPr>
      </p:pic>
      <p:sp>
        <p:nvSpPr>
          <p:cNvPr id="19" name="Flowchart: Connector 18"/>
          <p:cNvSpPr/>
          <p:nvPr/>
        </p:nvSpPr>
        <p:spPr>
          <a:xfrm>
            <a:off x="9637237" y="4907504"/>
            <a:ext cx="457200" cy="457200"/>
          </a:xfrm>
          <a:prstGeom prst="flowChartConnector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lowchart: Connector 19"/>
          <p:cNvSpPr/>
          <p:nvPr/>
        </p:nvSpPr>
        <p:spPr>
          <a:xfrm>
            <a:off x="9637237" y="3148335"/>
            <a:ext cx="457200" cy="457200"/>
          </a:xfrm>
          <a:prstGeom prst="flowChartConnector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lowchart: Connector 20"/>
          <p:cNvSpPr/>
          <p:nvPr/>
        </p:nvSpPr>
        <p:spPr>
          <a:xfrm>
            <a:off x="9637237" y="3968244"/>
            <a:ext cx="457200" cy="457200"/>
          </a:xfrm>
          <a:prstGeom prst="flowChartConnector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lowchart: Connector 21"/>
          <p:cNvSpPr/>
          <p:nvPr/>
        </p:nvSpPr>
        <p:spPr>
          <a:xfrm>
            <a:off x="9637237" y="2060504"/>
            <a:ext cx="457200" cy="457200"/>
          </a:xfrm>
          <a:prstGeom prst="flowChartConnector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lowchart: Connector 22"/>
          <p:cNvSpPr/>
          <p:nvPr/>
        </p:nvSpPr>
        <p:spPr>
          <a:xfrm>
            <a:off x="9637237" y="1149225"/>
            <a:ext cx="457200" cy="457200"/>
          </a:xfrm>
          <a:prstGeom prst="flowChartConnector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lowchart: Connector 23"/>
          <p:cNvSpPr/>
          <p:nvPr/>
        </p:nvSpPr>
        <p:spPr>
          <a:xfrm>
            <a:off x="9609601" y="71650"/>
            <a:ext cx="457200" cy="457200"/>
          </a:xfrm>
          <a:prstGeom prst="flowChartConnector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lowchart: Connector 24"/>
          <p:cNvSpPr/>
          <p:nvPr/>
        </p:nvSpPr>
        <p:spPr>
          <a:xfrm>
            <a:off x="9637237" y="6340840"/>
            <a:ext cx="457200" cy="457200"/>
          </a:xfrm>
          <a:prstGeom prst="flowChartConnector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lowchart: Connector 25"/>
          <p:cNvSpPr/>
          <p:nvPr/>
        </p:nvSpPr>
        <p:spPr>
          <a:xfrm>
            <a:off x="9637237" y="5609219"/>
            <a:ext cx="457200" cy="457200"/>
          </a:xfrm>
          <a:prstGeom prst="flowChartConnector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Arrow Connector 40"/>
          <p:cNvCxnSpPr/>
          <p:nvPr/>
        </p:nvCxnSpPr>
        <p:spPr>
          <a:xfrm flipV="1">
            <a:off x="8734566" y="300250"/>
            <a:ext cx="731520" cy="36576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>
            <a:off x="8741303" y="988939"/>
            <a:ext cx="795123" cy="307702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>
            <a:off x="8670962" y="2929779"/>
            <a:ext cx="795123" cy="307702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/>
          <p:nvPr/>
        </p:nvCxnSpPr>
        <p:spPr>
          <a:xfrm>
            <a:off x="8721225" y="4628561"/>
            <a:ext cx="795123" cy="307702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/>
          <p:nvPr/>
        </p:nvCxnSpPr>
        <p:spPr>
          <a:xfrm>
            <a:off x="8721225" y="6465808"/>
            <a:ext cx="767549" cy="69903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 flipV="1">
            <a:off x="8734565" y="2352334"/>
            <a:ext cx="731520" cy="36576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/>
          <p:cNvCxnSpPr/>
          <p:nvPr/>
        </p:nvCxnSpPr>
        <p:spPr>
          <a:xfrm flipV="1">
            <a:off x="8748384" y="4013964"/>
            <a:ext cx="731520" cy="36576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/>
          <p:nvPr/>
        </p:nvCxnSpPr>
        <p:spPr>
          <a:xfrm flipV="1">
            <a:off x="8748383" y="5826659"/>
            <a:ext cx="731520" cy="36576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/>
          <p:nvPr/>
        </p:nvCxnSpPr>
        <p:spPr>
          <a:xfrm flipV="1">
            <a:off x="6980885" y="896538"/>
            <a:ext cx="734147" cy="273939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 flipV="1">
            <a:off x="6978737" y="2882716"/>
            <a:ext cx="736295" cy="12729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>
            <a:off x="6937952" y="4166964"/>
            <a:ext cx="777080" cy="148978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/>
          <p:nvPr/>
        </p:nvCxnSpPr>
        <p:spPr>
          <a:xfrm>
            <a:off x="6897167" y="5903460"/>
            <a:ext cx="872773" cy="288959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V="1">
            <a:off x="5420399" y="1510873"/>
            <a:ext cx="645550" cy="494584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/>
          <p:nvPr/>
        </p:nvCxnSpPr>
        <p:spPr>
          <a:xfrm>
            <a:off x="5396187" y="2466237"/>
            <a:ext cx="736169" cy="416479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/>
          <p:nvPr/>
        </p:nvCxnSpPr>
        <p:spPr>
          <a:xfrm flipV="1">
            <a:off x="5385321" y="4241049"/>
            <a:ext cx="680628" cy="276926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/>
          <p:nvPr/>
        </p:nvCxnSpPr>
        <p:spPr>
          <a:xfrm>
            <a:off x="5393277" y="5044459"/>
            <a:ext cx="628055" cy="457541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>
            <a:off x="3809740" y="2283310"/>
            <a:ext cx="698664" cy="5794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/>
          <p:nvPr/>
        </p:nvCxnSpPr>
        <p:spPr>
          <a:xfrm>
            <a:off x="3691681" y="4715271"/>
            <a:ext cx="698664" cy="5794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/>
          <p:cNvCxnSpPr/>
          <p:nvPr/>
        </p:nvCxnSpPr>
        <p:spPr>
          <a:xfrm flipV="1">
            <a:off x="2370280" y="2535214"/>
            <a:ext cx="553224" cy="622242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/>
          <p:cNvCxnSpPr/>
          <p:nvPr/>
        </p:nvCxnSpPr>
        <p:spPr>
          <a:xfrm>
            <a:off x="2453079" y="3956885"/>
            <a:ext cx="566713" cy="436342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/>
          <p:cNvCxnSpPr/>
          <p:nvPr/>
        </p:nvCxnSpPr>
        <p:spPr>
          <a:xfrm>
            <a:off x="943167" y="3667348"/>
            <a:ext cx="698664" cy="5794"/>
          </a:xfrm>
          <a:prstGeom prst="straightConnector1">
            <a:avLst/>
          </a:prstGeom>
          <a:ln>
            <a:tailEnd type="triangle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16411492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052404" y="0"/>
            <a:ext cx="5974648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/>
              <a:t>Newton's </a:t>
            </a:r>
            <a:r>
              <a:rPr lang="en-US" sz="5400" b="1" dirty="0" smtClean="0"/>
              <a:t>Color </a:t>
            </a:r>
            <a:r>
              <a:rPr lang="en-US" sz="5400" b="1" dirty="0"/>
              <a:t>Disk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1026" name="Picture 2" descr="Newton's Colour Wheel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0838" y="1542914"/>
            <a:ext cx="4697779" cy="4517864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="" xmlns:p14="http://schemas.microsoft.com/office/powerpoint/2010/main" val="9581924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365126"/>
            <a:ext cx="10353541" cy="652306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Potentiometer – a variable </a:t>
            </a:r>
            <a:r>
              <a:rPr lang="en-US" b="1" dirty="0" smtClean="0"/>
              <a:t>resistor</a:t>
            </a:r>
            <a:endParaRPr lang="en-US" b="1" dirty="0"/>
          </a:p>
        </p:txBody>
      </p:sp>
      <p:sp>
        <p:nvSpPr>
          <p:cNvPr id="4" name="Flowchart: Process 3"/>
          <p:cNvSpPr/>
          <p:nvPr/>
        </p:nvSpPr>
        <p:spPr>
          <a:xfrm>
            <a:off x="1239184" y="3798409"/>
            <a:ext cx="45720" cy="280880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 rot="16200000">
            <a:off x="3959196" y="5683234"/>
            <a:ext cx="1078173" cy="6823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 rot="16200000">
            <a:off x="4454212" y="5694493"/>
            <a:ext cx="693764" cy="457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 rot="16200000" flipV="1">
            <a:off x="4507840" y="5694492"/>
            <a:ext cx="1078173" cy="457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 rot="16200000">
            <a:off x="5011352" y="5703591"/>
            <a:ext cx="675568" cy="457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562821" y="4769202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+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806229" y="4794021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-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163323" y="4413169"/>
            <a:ext cx="1549495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BATTERY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Flowchart: Process 11"/>
          <p:cNvSpPr/>
          <p:nvPr/>
        </p:nvSpPr>
        <p:spPr>
          <a:xfrm flipV="1">
            <a:off x="3249048" y="5692532"/>
            <a:ext cx="1215115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lowchart: Process 15"/>
          <p:cNvSpPr/>
          <p:nvPr/>
        </p:nvSpPr>
        <p:spPr>
          <a:xfrm>
            <a:off x="3206838" y="2324617"/>
            <a:ext cx="2446985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lowchart: Process 17"/>
          <p:cNvSpPr/>
          <p:nvPr/>
        </p:nvSpPr>
        <p:spPr>
          <a:xfrm>
            <a:off x="5611614" y="1917461"/>
            <a:ext cx="45719" cy="427117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Flowchart: Process 18"/>
          <p:cNvSpPr/>
          <p:nvPr/>
        </p:nvSpPr>
        <p:spPr>
          <a:xfrm flipV="1">
            <a:off x="5344509" y="5692532"/>
            <a:ext cx="3812370" cy="49638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Flowchart: Process 19"/>
          <p:cNvSpPr/>
          <p:nvPr/>
        </p:nvSpPr>
        <p:spPr>
          <a:xfrm flipH="1">
            <a:off x="9156878" y="3882070"/>
            <a:ext cx="45719" cy="1844380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Flowchart: Process 20"/>
          <p:cNvSpPr/>
          <p:nvPr/>
        </p:nvSpPr>
        <p:spPr>
          <a:xfrm flipH="1">
            <a:off x="9159775" y="2317769"/>
            <a:ext cx="45719" cy="1844380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Flowchart: Process 21"/>
          <p:cNvSpPr/>
          <p:nvPr/>
        </p:nvSpPr>
        <p:spPr>
          <a:xfrm flipV="1">
            <a:off x="5789980" y="2275998"/>
            <a:ext cx="3412617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Flowchart: Process 22"/>
          <p:cNvSpPr/>
          <p:nvPr/>
        </p:nvSpPr>
        <p:spPr>
          <a:xfrm>
            <a:off x="5777851" y="1917460"/>
            <a:ext cx="45719" cy="427117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Flowchart: Process 23"/>
          <p:cNvSpPr/>
          <p:nvPr/>
        </p:nvSpPr>
        <p:spPr>
          <a:xfrm flipH="1">
            <a:off x="1248133" y="1958441"/>
            <a:ext cx="48615" cy="1885688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Flowchart: Process 24"/>
          <p:cNvSpPr/>
          <p:nvPr/>
        </p:nvSpPr>
        <p:spPr>
          <a:xfrm>
            <a:off x="3173570" y="2344577"/>
            <a:ext cx="75478" cy="3372774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Flowchart: Process 25"/>
          <p:cNvSpPr/>
          <p:nvPr/>
        </p:nvSpPr>
        <p:spPr>
          <a:xfrm>
            <a:off x="1251031" y="1912722"/>
            <a:ext cx="4215214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lowchart: Process 26"/>
          <p:cNvSpPr/>
          <p:nvPr/>
        </p:nvSpPr>
        <p:spPr>
          <a:xfrm>
            <a:off x="1239183" y="6561490"/>
            <a:ext cx="5167547" cy="45719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lowchart: Process 27"/>
          <p:cNvSpPr/>
          <p:nvPr/>
        </p:nvSpPr>
        <p:spPr>
          <a:xfrm flipH="1">
            <a:off x="6360379" y="5738250"/>
            <a:ext cx="46350" cy="876471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/>
          <p:cNvSpPr/>
          <p:nvPr/>
        </p:nvSpPr>
        <p:spPr>
          <a:xfrm>
            <a:off x="1781412" y="3029474"/>
            <a:ext cx="731289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LED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7959777" y="3582649"/>
            <a:ext cx="802225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LED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6502638" y="1283644"/>
            <a:ext cx="2306144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Potentiometer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4" name="Isosceles Triangle 33"/>
          <p:cNvSpPr/>
          <p:nvPr/>
        </p:nvSpPr>
        <p:spPr>
          <a:xfrm rot="10800000">
            <a:off x="8910368" y="3749175"/>
            <a:ext cx="529681" cy="672326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lowchart: Process 34"/>
          <p:cNvSpPr/>
          <p:nvPr/>
        </p:nvSpPr>
        <p:spPr>
          <a:xfrm rot="10800000">
            <a:off x="8696692" y="4371119"/>
            <a:ext cx="896440" cy="47172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Flowchart: Process 35"/>
          <p:cNvSpPr/>
          <p:nvPr/>
        </p:nvSpPr>
        <p:spPr>
          <a:xfrm>
            <a:off x="1239185" y="3798409"/>
            <a:ext cx="45720" cy="280880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Rectangle 36"/>
          <p:cNvSpPr/>
          <p:nvPr/>
        </p:nvSpPr>
        <p:spPr>
          <a:xfrm rot="16200000">
            <a:off x="5011353" y="5703591"/>
            <a:ext cx="675568" cy="457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lowchart: Process 37"/>
          <p:cNvSpPr/>
          <p:nvPr/>
        </p:nvSpPr>
        <p:spPr>
          <a:xfrm flipV="1">
            <a:off x="5344510" y="5692532"/>
            <a:ext cx="3812370" cy="49638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Flowchart: Process 38"/>
          <p:cNvSpPr/>
          <p:nvPr/>
        </p:nvSpPr>
        <p:spPr>
          <a:xfrm flipH="1">
            <a:off x="1248134" y="1958441"/>
            <a:ext cx="48615" cy="1885688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Flowchart: Process 39"/>
          <p:cNvSpPr/>
          <p:nvPr/>
        </p:nvSpPr>
        <p:spPr>
          <a:xfrm>
            <a:off x="1239184" y="6561490"/>
            <a:ext cx="5167547" cy="45719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Flowchart: Process 40"/>
          <p:cNvSpPr/>
          <p:nvPr/>
        </p:nvSpPr>
        <p:spPr>
          <a:xfrm flipH="1">
            <a:off x="6360380" y="5738250"/>
            <a:ext cx="46350" cy="876471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Rectangle 41"/>
          <p:cNvSpPr/>
          <p:nvPr/>
        </p:nvSpPr>
        <p:spPr>
          <a:xfrm rot="16200000">
            <a:off x="4454213" y="5694493"/>
            <a:ext cx="693764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 rot="16200000" flipV="1">
            <a:off x="4507841" y="5694492"/>
            <a:ext cx="1078173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Flowchart: Process 43"/>
          <p:cNvSpPr/>
          <p:nvPr/>
        </p:nvSpPr>
        <p:spPr>
          <a:xfrm>
            <a:off x="1239186" y="3798409"/>
            <a:ext cx="45720" cy="2808800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" name="Rectangle 44"/>
          <p:cNvSpPr/>
          <p:nvPr/>
        </p:nvSpPr>
        <p:spPr>
          <a:xfrm rot="16200000">
            <a:off x="5011354" y="5703591"/>
            <a:ext cx="675568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lowchart: Process 45"/>
          <p:cNvSpPr/>
          <p:nvPr/>
        </p:nvSpPr>
        <p:spPr>
          <a:xfrm flipV="1">
            <a:off x="5344511" y="5692532"/>
            <a:ext cx="3812370" cy="49638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7" name="Flowchart: Process 46"/>
          <p:cNvSpPr/>
          <p:nvPr/>
        </p:nvSpPr>
        <p:spPr>
          <a:xfrm flipH="1">
            <a:off x="1248135" y="1958441"/>
            <a:ext cx="48615" cy="1885688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" name="Flowchart: Process 47"/>
          <p:cNvSpPr/>
          <p:nvPr/>
        </p:nvSpPr>
        <p:spPr>
          <a:xfrm>
            <a:off x="1239185" y="6561490"/>
            <a:ext cx="5167547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lowchart: Process 48"/>
          <p:cNvSpPr/>
          <p:nvPr/>
        </p:nvSpPr>
        <p:spPr>
          <a:xfrm flipH="1">
            <a:off x="6360381" y="5738250"/>
            <a:ext cx="46350" cy="876471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Isosceles Triangle 31"/>
          <p:cNvSpPr/>
          <p:nvPr/>
        </p:nvSpPr>
        <p:spPr>
          <a:xfrm rot="10957899">
            <a:off x="1002724" y="3710536"/>
            <a:ext cx="529681" cy="672326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lowchart: Process 32"/>
          <p:cNvSpPr/>
          <p:nvPr/>
        </p:nvSpPr>
        <p:spPr>
          <a:xfrm>
            <a:off x="819028" y="4317489"/>
            <a:ext cx="896440" cy="47172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50" name="Straight Arrow Connector 49"/>
          <p:cNvCxnSpPr/>
          <p:nvPr/>
        </p:nvCxnSpPr>
        <p:spPr>
          <a:xfrm rot="157899">
            <a:off x="1677423" y="3843812"/>
            <a:ext cx="329786" cy="329785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 rot="5557899" flipV="1">
            <a:off x="1564996" y="4031189"/>
            <a:ext cx="347276" cy="332284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/>
          <p:cNvCxnSpPr/>
          <p:nvPr/>
        </p:nvCxnSpPr>
        <p:spPr>
          <a:xfrm>
            <a:off x="9655785" y="3914546"/>
            <a:ext cx="329786" cy="329785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/>
          <p:nvPr/>
        </p:nvCxnSpPr>
        <p:spPr>
          <a:xfrm rot="5400000" flipV="1">
            <a:off x="9543358" y="4101923"/>
            <a:ext cx="347276" cy="332284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16593909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967216" y="0"/>
            <a:ext cx="8529065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US" sz="4800" b="1" dirty="0"/>
              <a:t>Switches in </a:t>
            </a:r>
            <a:r>
              <a:rPr lang="en-US" sz="4800" b="1" dirty="0" smtClean="0"/>
              <a:t>Series combination</a:t>
            </a:r>
            <a:endParaRPr lang="en-US" sz="4800" b="1" dirty="0"/>
          </a:p>
        </p:txBody>
      </p:sp>
      <p:sp>
        <p:nvSpPr>
          <p:cNvPr id="5" name="Rectangle 4"/>
          <p:cNvSpPr/>
          <p:nvPr/>
        </p:nvSpPr>
        <p:spPr>
          <a:xfrm rot="16200000">
            <a:off x="3959196" y="5683234"/>
            <a:ext cx="1078173" cy="6823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 rot="16200000">
            <a:off x="4454212" y="5694493"/>
            <a:ext cx="693764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 rot="16200000" flipV="1">
            <a:off x="4507840" y="5694492"/>
            <a:ext cx="1078173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 rot="16200000">
            <a:off x="5011352" y="5703591"/>
            <a:ext cx="675568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562821" y="4769202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+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806229" y="4794021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-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163323" y="4413169"/>
            <a:ext cx="1549495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BATTERY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Flowchart: Process 11"/>
          <p:cNvSpPr/>
          <p:nvPr/>
        </p:nvSpPr>
        <p:spPr>
          <a:xfrm flipV="1">
            <a:off x="993352" y="5692531"/>
            <a:ext cx="3470812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lowchart: Process 12"/>
          <p:cNvSpPr/>
          <p:nvPr/>
        </p:nvSpPr>
        <p:spPr>
          <a:xfrm flipV="1">
            <a:off x="5344509" y="5692532"/>
            <a:ext cx="3812370" cy="49638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Flowchart: Process 13"/>
          <p:cNvSpPr/>
          <p:nvPr/>
        </p:nvSpPr>
        <p:spPr>
          <a:xfrm>
            <a:off x="9111158" y="1468192"/>
            <a:ext cx="45719" cy="4258258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lowchart: Process 15"/>
          <p:cNvSpPr/>
          <p:nvPr/>
        </p:nvSpPr>
        <p:spPr>
          <a:xfrm flipH="1">
            <a:off x="961372" y="1468192"/>
            <a:ext cx="45719" cy="4292752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lowchart: Process 17"/>
          <p:cNvSpPr/>
          <p:nvPr/>
        </p:nvSpPr>
        <p:spPr>
          <a:xfrm>
            <a:off x="984231" y="1468192"/>
            <a:ext cx="2578590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481185" y="3036233"/>
            <a:ext cx="731289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LED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211213" y="1960223"/>
            <a:ext cx="1142365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Switch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155977" y="1947832"/>
            <a:ext cx="1142365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Switch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4" name="Bent Arrow 23"/>
          <p:cNvSpPr/>
          <p:nvPr/>
        </p:nvSpPr>
        <p:spPr>
          <a:xfrm rot="5400000">
            <a:off x="7955846" y="1885812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" name="Bent Arrow 24"/>
          <p:cNvSpPr/>
          <p:nvPr/>
        </p:nvSpPr>
        <p:spPr>
          <a:xfrm rot="10800000">
            <a:off x="7713913" y="4723000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6" name="Bent Arrow 25"/>
          <p:cNvSpPr/>
          <p:nvPr/>
        </p:nvSpPr>
        <p:spPr>
          <a:xfrm rot="16200000">
            <a:off x="1049248" y="4536033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Bent Arrow 26"/>
          <p:cNvSpPr/>
          <p:nvPr/>
        </p:nvSpPr>
        <p:spPr>
          <a:xfrm>
            <a:off x="1152244" y="1688551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Isosceles Triangle 27"/>
          <p:cNvSpPr/>
          <p:nvPr/>
        </p:nvSpPr>
        <p:spPr>
          <a:xfrm>
            <a:off x="719386" y="2963562"/>
            <a:ext cx="529681" cy="672326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lowchart: Process 28"/>
          <p:cNvSpPr/>
          <p:nvPr/>
        </p:nvSpPr>
        <p:spPr>
          <a:xfrm>
            <a:off x="550680" y="2940928"/>
            <a:ext cx="896440" cy="47172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Flowchart: Process 29"/>
          <p:cNvSpPr/>
          <p:nvPr/>
        </p:nvSpPr>
        <p:spPr>
          <a:xfrm>
            <a:off x="4185066" y="1477247"/>
            <a:ext cx="2221665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lowchart: Process 30"/>
          <p:cNvSpPr/>
          <p:nvPr/>
        </p:nvSpPr>
        <p:spPr>
          <a:xfrm>
            <a:off x="7173531" y="1473108"/>
            <a:ext cx="1960485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lowchart: Process 31"/>
          <p:cNvSpPr/>
          <p:nvPr/>
        </p:nvSpPr>
        <p:spPr>
          <a:xfrm rot="19539187" flipV="1">
            <a:off x="3503692" y="1285771"/>
            <a:ext cx="732320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lowchart: Process 33"/>
          <p:cNvSpPr/>
          <p:nvPr/>
        </p:nvSpPr>
        <p:spPr>
          <a:xfrm rot="19539187" flipV="1">
            <a:off x="6281952" y="1285771"/>
            <a:ext cx="732320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Arrow Connector 32"/>
          <p:cNvCxnSpPr/>
          <p:nvPr/>
        </p:nvCxnSpPr>
        <p:spPr>
          <a:xfrm rot="10800000">
            <a:off x="381300" y="2976922"/>
            <a:ext cx="329786" cy="329785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 rot="16200000" flipV="1">
            <a:off x="268873" y="3164299"/>
            <a:ext cx="347276" cy="332284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13861120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967216" y="0"/>
            <a:ext cx="8529065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US" sz="4800" b="1" dirty="0"/>
              <a:t>Switches </a:t>
            </a:r>
            <a:r>
              <a:rPr lang="en-US" sz="4800" b="1" dirty="0" smtClean="0"/>
              <a:t>in Parallel combination</a:t>
            </a:r>
            <a:endParaRPr lang="en-US" sz="4800" b="1" dirty="0"/>
          </a:p>
        </p:txBody>
      </p:sp>
      <p:sp>
        <p:nvSpPr>
          <p:cNvPr id="5" name="Rectangle 4"/>
          <p:cNvSpPr/>
          <p:nvPr/>
        </p:nvSpPr>
        <p:spPr>
          <a:xfrm rot="16200000">
            <a:off x="2529644" y="5670355"/>
            <a:ext cx="1078173" cy="6823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 rot="16200000">
            <a:off x="3024660" y="5681614"/>
            <a:ext cx="693764" cy="457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 rot="16200000" flipV="1">
            <a:off x="3078288" y="5681613"/>
            <a:ext cx="1078173" cy="457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 rot="16200000">
            <a:off x="3581800" y="5690712"/>
            <a:ext cx="675568" cy="457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2133269" y="4756323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+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082256" y="4814919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-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733771" y="4400290"/>
            <a:ext cx="1549495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BATTERY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Flowchart: Process 11"/>
          <p:cNvSpPr/>
          <p:nvPr/>
        </p:nvSpPr>
        <p:spPr>
          <a:xfrm>
            <a:off x="993352" y="5738249"/>
            <a:ext cx="2041259" cy="45719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lowchart: Process 12"/>
          <p:cNvSpPr/>
          <p:nvPr/>
        </p:nvSpPr>
        <p:spPr>
          <a:xfrm flipV="1">
            <a:off x="3942444" y="5706088"/>
            <a:ext cx="5724628" cy="45719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Flowchart: Process 14"/>
          <p:cNvSpPr/>
          <p:nvPr/>
        </p:nvSpPr>
        <p:spPr>
          <a:xfrm flipH="1">
            <a:off x="961372" y="1468192"/>
            <a:ext cx="45719" cy="4292752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lowchart: Process 15"/>
          <p:cNvSpPr/>
          <p:nvPr/>
        </p:nvSpPr>
        <p:spPr>
          <a:xfrm>
            <a:off x="984230" y="1468192"/>
            <a:ext cx="8660931" cy="45719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lowchart: Process 19"/>
          <p:cNvSpPr/>
          <p:nvPr/>
        </p:nvSpPr>
        <p:spPr>
          <a:xfrm>
            <a:off x="6551848" y="1513911"/>
            <a:ext cx="56042" cy="1688626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339516" y="3023354"/>
            <a:ext cx="731289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LED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8146777" y="3219076"/>
            <a:ext cx="1142365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Switch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4951287" y="3202537"/>
            <a:ext cx="1142365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Switch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4" name="Bent Arrow 23"/>
          <p:cNvSpPr/>
          <p:nvPr/>
        </p:nvSpPr>
        <p:spPr>
          <a:xfrm>
            <a:off x="1191711" y="1691036"/>
            <a:ext cx="1095035" cy="868680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" name="Bent Arrow 24"/>
          <p:cNvSpPr/>
          <p:nvPr/>
        </p:nvSpPr>
        <p:spPr>
          <a:xfrm rot="10800000">
            <a:off x="5177618" y="4676754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6" name="Bent Arrow 25"/>
          <p:cNvSpPr/>
          <p:nvPr/>
        </p:nvSpPr>
        <p:spPr>
          <a:xfrm rot="10800000">
            <a:off x="8354273" y="4676755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Bent Arrow 26"/>
          <p:cNvSpPr/>
          <p:nvPr/>
        </p:nvSpPr>
        <p:spPr>
          <a:xfrm rot="16200000">
            <a:off x="1038993" y="4594630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Bent Arrow 27"/>
          <p:cNvSpPr/>
          <p:nvPr/>
        </p:nvSpPr>
        <p:spPr>
          <a:xfrm rot="5400000">
            <a:off x="8441695" y="1774185"/>
            <a:ext cx="1095035" cy="868680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Bent Arrow 28"/>
          <p:cNvSpPr/>
          <p:nvPr/>
        </p:nvSpPr>
        <p:spPr>
          <a:xfrm rot="5400000">
            <a:off x="5440107" y="1774186"/>
            <a:ext cx="1095035" cy="868680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Flowchart: Process 31"/>
          <p:cNvSpPr/>
          <p:nvPr/>
        </p:nvSpPr>
        <p:spPr>
          <a:xfrm rot="2781673" flipV="1">
            <a:off x="6475459" y="3456142"/>
            <a:ext cx="732320" cy="45719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lowchart: Process 32"/>
          <p:cNvSpPr/>
          <p:nvPr/>
        </p:nvSpPr>
        <p:spPr>
          <a:xfrm>
            <a:off x="6571467" y="3766111"/>
            <a:ext cx="58334" cy="1932959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Flowchart: Process 33"/>
          <p:cNvSpPr/>
          <p:nvPr/>
        </p:nvSpPr>
        <p:spPr>
          <a:xfrm>
            <a:off x="9589119" y="1511763"/>
            <a:ext cx="56042" cy="1688626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Flowchart: Process 34"/>
          <p:cNvSpPr/>
          <p:nvPr/>
        </p:nvSpPr>
        <p:spPr>
          <a:xfrm rot="2781673" flipV="1">
            <a:off x="9512730" y="3453994"/>
            <a:ext cx="732320" cy="45719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lowchart: Process 35"/>
          <p:cNvSpPr/>
          <p:nvPr/>
        </p:nvSpPr>
        <p:spPr>
          <a:xfrm>
            <a:off x="9608738" y="3802600"/>
            <a:ext cx="58334" cy="1932959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Rectangle 36"/>
          <p:cNvSpPr/>
          <p:nvPr/>
        </p:nvSpPr>
        <p:spPr>
          <a:xfrm rot="16200000">
            <a:off x="3024661" y="5681614"/>
            <a:ext cx="693764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 rot="16200000" flipV="1">
            <a:off x="3078289" y="5681613"/>
            <a:ext cx="1078173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xfrm rot="16200000">
            <a:off x="3581801" y="5690712"/>
            <a:ext cx="675568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lowchart: Process 39"/>
          <p:cNvSpPr/>
          <p:nvPr/>
        </p:nvSpPr>
        <p:spPr>
          <a:xfrm>
            <a:off x="993353" y="5738249"/>
            <a:ext cx="2041259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Flowchart: Process 40"/>
          <p:cNvSpPr/>
          <p:nvPr/>
        </p:nvSpPr>
        <p:spPr>
          <a:xfrm flipV="1">
            <a:off x="3942445" y="5706088"/>
            <a:ext cx="5724628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Flowchart: Process 41"/>
          <p:cNvSpPr/>
          <p:nvPr/>
        </p:nvSpPr>
        <p:spPr>
          <a:xfrm flipH="1">
            <a:off x="961373" y="1468192"/>
            <a:ext cx="45719" cy="4292752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Flowchart: Process 42"/>
          <p:cNvSpPr/>
          <p:nvPr/>
        </p:nvSpPr>
        <p:spPr>
          <a:xfrm>
            <a:off x="984231" y="1468192"/>
            <a:ext cx="8660931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Flowchart: Process 43"/>
          <p:cNvSpPr/>
          <p:nvPr/>
        </p:nvSpPr>
        <p:spPr>
          <a:xfrm>
            <a:off x="6551849" y="1513911"/>
            <a:ext cx="56042" cy="1688626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" name="Flowchart: Process 44"/>
          <p:cNvSpPr/>
          <p:nvPr/>
        </p:nvSpPr>
        <p:spPr>
          <a:xfrm rot="2781673" flipV="1">
            <a:off x="6475460" y="3456142"/>
            <a:ext cx="732320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lowchart: Process 45"/>
          <p:cNvSpPr/>
          <p:nvPr/>
        </p:nvSpPr>
        <p:spPr>
          <a:xfrm>
            <a:off x="6571468" y="3766111"/>
            <a:ext cx="58334" cy="193295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7" name="Flowchart: Process 46"/>
          <p:cNvSpPr/>
          <p:nvPr/>
        </p:nvSpPr>
        <p:spPr>
          <a:xfrm>
            <a:off x="9589120" y="1511763"/>
            <a:ext cx="56042" cy="1688626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" name="Flowchart: Process 47"/>
          <p:cNvSpPr/>
          <p:nvPr/>
        </p:nvSpPr>
        <p:spPr>
          <a:xfrm rot="2781673" flipV="1">
            <a:off x="9512731" y="3453994"/>
            <a:ext cx="732320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lowchart: Process 48"/>
          <p:cNvSpPr/>
          <p:nvPr/>
        </p:nvSpPr>
        <p:spPr>
          <a:xfrm>
            <a:off x="9608739" y="3802600"/>
            <a:ext cx="58334" cy="193295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Isosceles Triangle 29"/>
          <p:cNvSpPr/>
          <p:nvPr/>
        </p:nvSpPr>
        <p:spPr>
          <a:xfrm>
            <a:off x="719386" y="2963562"/>
            <a:ext cx="529681" cy="672326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lowchart: Process 30"/>
          <p:cNvSpPr/>
          <p:nvPr/>
        </p:nvSpPr>
        <p:spPr>
          <a:xfrm>
            <a:off x="550680" y="2940928"/>
            <a:ext cx="896440" cy="47172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0" name="Bent Arrow 49"/>
          <p:cNvSpPr/>
          <p:nvPr/>
        </p:nvSpPr>
        <p:spPr>
          <a:xfrm>
            <a:off x="1191711" y="1691037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1" name="Bent Arrow 50"/>
          <p:cNvSpPr/>
          <p:nvPr/>
        </p:nvSpPr>
        <p:spPr>
          <a:xfrm rot="5400000">
            <a:off x="8441695" y="1774186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2" name="Bent Arrow 51"/>
          <p:cNvSpPr/>
          <p:nvPr/>
        </p:nvSpPr>
        <p:spPr>
          <a:xfrm rot="5400000">
            <a:off x="5440107" y="1774187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53" name="Straight Arrow Connector 52"/>
          <p:cNvCxnSpPr/>
          <p:nvPr/>
        </p:nvCxnSpPr>
        <p:spPr>
          <a:xfrm rot="10800000">
            <a:off x="368421" y="2938285"/>
            <a:ext cx="329786" cy="329785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rot="16200000" flipV="1">
            <a:off x="255994" y="3125662"/>
            <a:ext cx="347276" cy="332284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29028739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383883" y="0"/>
            <a:ext cx="6270691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Working of Capacitor 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Rectangle 4"/>
          <p:cNvSpPr/>
          <p:nvPr/>
        </p:nvSpPr>
        <p:spPr>
          <a:xfrm rot="16200000">
            <a:off x="2529644" y="5670355"/>
            <a:ext cx="1078173" cy="6823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 rot="16200000">
            <a:off x="3024660" y="5681614"/>
            <a:ext cx="693764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 rot="16200000" flipV="1">
            <a:off x="3078288" y="5681613"/>
            <a:ext cx="1078173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 rot="16200000">
            <a:off x="3581800" y="5690712"/>
            <a:ext cx="675568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2133269" y="4756323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+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082256" y="4814919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-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733771" y="4400290"/>
            <a:ext cx="1549495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BATTERY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Flowchart: Process 11"/>
          <p:cNvSpPr/>
          <p:nvPr/>
        </p:nvSpPr>
        <p:spPr>
          <a:xfrm>
            <a:off x="993352" y="5738249"/>
            <a:ext cx="2041259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lowchart: Process 12"/>
          <p:cNvSpPr/>
          <p:nvPr/>
        </p:nvSpPr>
        <p:spPr>
          <a:xfrm flipV="1">
            <a:off x="3942444" y="5692531"/>
            <a:ext cx="6953081" cy="79637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Flowchart: Process 13"/>
          <p:cNvSpPr/>
          <p:nvPr/>
        </p:nvSpPr>
        <p:spPr>
          <a:xfrm>
            <a:off x="10849806" y="1468192"/>
            <a:ext cx="45719" cy="4258258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Flowchart: Process 14"/>
          <p:cNvSpPr/>
          <p:nvPr/>
        </p:nvSpPr>
        <p:spPr>
          <a:xfrm>
            <a:off x="968453" y="1468192"/>
            <a:ext cx="45719" cy="1743195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lowchart: Process 15"/>
          <p:cNvSpPr/>
          <p:nvPr/>
        </p:nvSpPr>
        <p:spPr>
          <a:xfrm>
            <a:off x="984230" y="1468192"/>
            <a:ext cx="7251174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lowchart: Process 18"/>
          <p:cNvSpPr/>
          <p:nvPr/>
        </p:nvSpPr>
        <p:spPr>
          <a:xfrm>
            <a:off x="6551848" y="3709115"/>
            <a:ext cx="45719" cy="2063054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/>
          <p:cNvSpPr/>
          <p:nvPr/>
        </p:nvSpPr>
        <p:spPr>
          <a:xfrm>
            <a:off x="9529118" y="3894018"/>
            <a:ext cx="731289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LED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4316776" y="3253028"/>
            <a:ext cx="1572546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Capacitor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8235404" y="1876009"/>
            <a:ext cx="1142365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Switch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1332318" y="3047989"/>
            <a:ext cx="1142365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Switch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1544426" y="6293472"/>
            <a:ext cx="2263633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Charging Loop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619846" y="6304203"/>
            <a:ext cx="2669192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</a:t>
            </a:r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ischarging Loop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" name="Bent Arrow 27"/>
          <p:cNvSpPr/>
          <p:nvPr/>
        </p:nvSpPr>
        <p:spPr>
          <a:xfrm>
            <a:off x="1191711" y="1665278"/>
            <a:ext cx="1095035" cy="868680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Bent Arrow 28"/>
          <p:cNvSpPr/>
          <p:nvPr/>
        </p:nvSpPr>
        <p:spPr>
          <a:xfrm rot="5400000">
            <a:off x="5495012" y="1816710"/>
            <a:ext cx="1095035" cy="868680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0" name="Bent Arrow 29"/>
          <p:cNvSpPr/>
          <p:nvPr/>
        </p:nvSpPr>
        <p:spPr>
          <a:xfrm rot="10800000">
            <a:off x="5264016" y="4746171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1" name="Bent Arrow 30"/>
          <p:cNvSpPr/>
          <p:nvPr/>
        </p:nvSpPr>
        <p:spPr>
          <a:xfrm rot="16200000">
            <a:off x="1021939" y="4560697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3" name="Bent Arrow 32"/>
          <p:cNvSpPr/>
          <p:nvPr/>
        </p:nvSpPr>
        <p:spPr>
          <a:xfrm rot="10800000">
            <a:off x="9529118" y="4717687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4" name="Bent Arrow 33"/>
          <p:cNvSpPr/>
          <p:nvPr/>
        </p:nvSpPr>
        <p:spPr>
          <a:xfrm rot="16200000">
            <a:off x="6550240" y="4565474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5" name="Bent Arrow 34"/>
          <p:cNvSpPr/>
          <p:nvPr/>
        </p:nvSpPr>
        <p:spPr>
          <a:xfrm rot="5400000">
            <a:off x="9802097" y="1875477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6" name="Bent Arrow 35"/>
          <p:cNvSpPr/>
          <p:nvPr/>
        </p:nvSpPr>
        <p:spPr>
          <a:xfrm>
            <a:off x="6776342" y="1729871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7" name="Flowchart: Process 36"/>
          <p:cNvSpPr/>
          <p:nvPr/>
        </p:nvSpPr>
        <p:spPr>
          <a:xfrm>
            <a:off x="6536982" y="1502378"/>
            <a:ext cx="45719" cy="1785656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Isosceles Triangle 39"/>
          <p:cNvSpPr/>
          <p:nvPr/>
        </p:nvSpPr>
        <p:spPr>
          <a:xfrm rot="10800000">
            <a:off x="10597500" y="3234021"/>
            <a:ext cx="529681" cy="672326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Flowchart: Process 40"/>
          <p:cNvSpPr/>
          <p:nvPr/>
        </p:nvSpPr>
        <p:spPr>
          <a:xfrm>
            <a:off x="10415915" y="3881090"/>
            <a:ext cx="896440" cy="47172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Flowchart: Process 41"/>
          <p:cNvSpPr/>
          <p:nvPr/>
        </p:nvSpPr>
        <p:spPr>
          <a:xfrm>
            <a:off x="6129388" y="3303688"/>
            <a:ext cx="896440" cy="47172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Block Arc 42"/>
          <p:cNvSpPr/>
          <p:nvPr/>
        </p:nvSpPr>
        <p:spPr>
          <a:xfrm>
            <a:off x="6117508" y="3612693"/>
            <a:ext cx="908320" cy="415889"/>
          </a:xfrm>
          <a:prstGeom prst="blockArc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4" name="Flowchart: Process 43"/>
          <p:cNvSpPr/>
          <p:nvPr/>
        </p:nvSpPr>
        <p:spPr>
          <a:xfrm>
            <a:off x="992063" y="4028940"/>
            <a:ext cx="45719" cy="1743195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" name="Flowchart: Process 44"/>
          <p:cNvSpPr/>
          <p:nvPr/>
        </p:nvSpPr>
        <p:spPr>
          <a:xfrm rot="2817594" flipV="1">
            <a:off x="851173" y="3511374"/>
            <a:ext cx="896440" cy="69757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Flowchart: Process 45"/>
          <p:cNvSpPr/>
          <p:nvPr/>
        </p:nvSpPr>
        <p:spPr>
          <a:xfrm>
            <a:off x="8847331" y="1473189"/>
            <a:ext cx="2041259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7" name="Flowchart: Process 46"/>
          <p:cNvSpPr/>
          <p:nvPr/>
        </p:nvSpPr>
        <p:spPr>
          <a:xfrm rot="19594077">
            <a:off x="8149224" y="1240922"/>
            <a:ext cx="896440" cy="47172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Bent Arrow 38"/>
          <p:cNvSpPr/>
          <p:nvPr/>
        </p:nvSpPr>
        <p:spPr>
          <a:xfrm>
            <a:off x="1191711" y="1665279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8" name="Bent Arrow 47"/>
          <p:cNvSpPr/>
          <p:nvPr/>
        </p:nvSpPr>
        <p:spPr>
          <a:xfrm rot="5400000">
            <a:off x="5495012" y="1816711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49" name="Straight Arrow Connector 48"/>
          <p:cNvCxnSpPr/>
          <p:nvPr/>
        </p:nvCxnSpPr>
        <p:spPr>
          <a:xfrm>
            <a:off x="11089018" y="3550801"/>
            <a:ext cx="423518" cy="35197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>
            <a:off x="11180228" y="3403438"/>
            <a:ext cx="386639" cy="33349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40818392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107463" y="-91741"/>
            <a:ext cx="8529065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US" sz="4800" b="1" dirty="0" smtClean="0"/>
              <a:t>Capacitors </a:t>
            </a:r>
            <a:r>
              <a:rPr lang="en-US" sz="4800" b="1" dirty="0"/>
              <a:t>in </a:t>
            </a:r>
            <a:r>
              <a:rPr lang="en-US" sz="4800" b="1" dirty="0" smtClean="0"/>
              <a:t>Series combination</a:t>
            </a:r>
            <a:endParaRPr lang="en-US" sz="4800" b="1" dirty="0"/>
          </a:p>
        </p:txBody>
      </p:sp>
      <p:sp>
        <p:nvSpPr>
          <p:cNvPr id="5" name="Rectangle 4"/>
          <p:cNvSpPr/>
          <p:nvPr/>
        </p:nvSpPr>
        <p:spPr>
          <a:xfrm rot="16200000">
            <a:off x="4690715" y="5683234"/>
            <a:ext cx="1078173" cy="6823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 rot="16200000">
            <a:off x="5185731" y="5694493"/>
            <a:ext cx="693764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 rot="16200000" flipV="1">
            <a:off x="5239359" y="5694492"/>
            <a:ext cx="1078173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 rot="16200000">
            <a:off x="5742871" y="5703591"/>
            <a:ext cx="675568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294340" y="4769202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+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537748" y="4794021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-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894842" y="4413169"/>
            <a:ext cx="1549495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BATTERY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Flowchart: Process 11"/>
          <p:cNvSpPr/>
          <p:nvPr/>
        </p:nvSpPr>
        <p:spPr>
          <a:xfrm flipV="1">
            <a:off x="1724871" y="5692531"/>
            <a:ext cx="3470812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lowchart: Process 12"/>
          <p:cNvSpPr/>
          <p:nvPr/>
        </p:nvSpPr>
        <p:spPr>
          <a:xfrm flipV="1">
            <a:off x="6076028" y="5692532"/>
            <a:ext cx="3812370" cy="49638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Flowchart: Process 13"/>
          <p:cNvSpPr/>
          <p:nvPr/>
        </p:nvSpPr>
        <p:spPr>
          <a:xfrm>
            <a:off x="9842679" y="1570641"/>
            <a:ext cx="45719" cy="1674835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Flowchart: Process 14"/>
          <p:cNvSpPr/>
          <p:nvPr/>
        </p:nvSpPr>
        <p:spPr>
          <a:xfrm flipH="1">
            <a:off x="1680010" y="1596690"/>
            <a:ext cx="77699" cy="4138496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/>
          <p:cNvSpPr/>
          <p:nvPr/>
        </p:nvSpPr>
        <p:spPr>
          <a:xfrm>
            <a:off x="2074372" y="3542112"/>
            <a:ext cx="731289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LED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1" name="Flowchart: Process 20"/>
          <p:cNvSpPr/>
          <p:nvPr/>
        </p:nvSpPr>
        <p:spPr>
          <a:xfrm>
            <a:off x="1709844" y="1562058"/>
            <a:ext cx="2532980" cy="6038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Flowchart: Process 24"/>
          <p:cNvSpPr/>
          <p:nvPr/>
        </p:nvSpPr>
        <p:spPr>
          <a:xfrm>
            <a:off x="4605442" y="1559910"/>
            <a:ext cx="2338275" cy="62537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Flowchart: Process 28"/>
          <p:cNvSpPr/>
          <p:nvPr/>
        </p:nvSpPr>
        <p:spPr>
          <a:xfrm>
            <a:off x="7256346" y="1570641"/>
            <a:ext cx="2586333" cy="69934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/>
          <p:cNvSpPr/>
          <p:nvPr/>
        </p:nvSpPr>
        <p:spPr>
          <a:xfrm>
            <a:off x="6410370" y="2905360"/>
            <a:ext cx="1572546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Capacitor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3634630" y="2954197"/>
            <a:ext cx="1572546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Capacitor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2" name="Isosceles Triangle 31"/>
          <p:cNvSpPr/>
          <p:nvPr/>
        </p:nvSpPr>
        <p:spPr>
          <a:xfrm>
            <a:off x="1450908" y="3440082"/>
            <a:ext cx="529681" cy="67232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lowchart: Process 32"/>
          <p:cNvSpPr/>
          <p:nvPr/>
        </p:nvSpPr>
        <p:spPr>
          <a:xfrm>
            <a:off x="1269323" y="3417448"/>
            <a:ext cx="896440" cy="47172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Flowchart: Process 33"/>
          <p:cNvSpPr/>
          <p:nvPr/>
        </p:nvSpPr>
        <p:spPr>
          <a:xfrm rot="16200000">
            <a:off x="3813166" y="1607979"/>
            <a:ext cx="896440" cy="65907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Block Arc 34"/>
          <p:cNvSpPr/>
          <p:nvPr/>
        </p:nvSpPr>
        <p:spPr>
          <a:xfrm rot="16200000">
            <a:off x="4260890" y="1429493"/>
            <a:ext cx="908320" cy="415889"/>
          </a:xfrm>
          <a:prstGeom prst="blockArc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6" name="Flowchart: Process 35"/>
          <p:cNvSpPr/>
          <p:nvPr/>
        </p:nvSpPr>
        <p:spPr>
          <a:xfrm rot="16200000">
            <a:off x="6502704" y="1580073"/>
            <a:ext cx="896440" cy="65907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Block Arc 36"/>
          <p:cNvSpPr/>
          <p:nvPr/>
        </p:nvSpPr>
        <p:spPr>
          <a:xfrm rot="16200000">
            <a:off x="6950428" y="1401587"/>
            <a:ext cx="908320" cy="415889"/>
          </a:xfrm>
          <a:prstGeom prst="blockArc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6" name="Isosceles Triangle 25"/>
          <p:cNvSpPr/>
          <p:nvPr/>
        </p:nvSpPr>
        <p:spPr>
          <a:xfrm>
            <a:off x="1450909" y="3440082"/>
            <a:ext cx="529681" cy="67232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lowchart: Process 26"/>
          <p:cNvSpPr/>
          <p:nvPr/>
        </p:nvSpPr>
        <p:spPr>
          <a:xfrm>
            <a:off x="1269324" y="3417448"/>
            <a:ext cx="896440" cy="47172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Flowchart: Process 27"/>
          <p:cNvSpPr/>
          <p:nvPr/>
        </p:nvSpPr>
        <p:spPr>
          <a:xfrm rot="16200000">
            <a:off x="3813167" y="1607979"/>
            <a:ext cx="896440" cy="65907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Block Arc 37"/>
          <p:cNvSpPr/>
          <p:nvPr/>
        </p:nvSpPr>
        <p:spPr>
          <a:xfrm rot="16200000">
            <a:off x="4260891" y="1429493"/>
            <a:ext cx="908320" cy="415889"/>
          </a:xfrm>
          <a:prstGeom prst="blockArc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9" name="Flowchart: Process 38"/>
          <p:cNvSpPr/>
          <p:nvPr/>
        </p:nvSpPr>
        <p:spPr>
          <a:xfrm rot="16200000">
            <a:off x="6502705" y="1580073"/>
            <a:ext cx="896440" cy="65907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Block Arc 39"/>
          <p:cNvSpPr/>
          <p:nvPr/>
        </p:nvSpPr>
        <p:spPr>
          <a:xfrm rot="16200000">
            <a:off x="6950429" y="1401587"/>
            <a:ext cx="908320" cy="415889"/>
          </a:xfrm>
          <a:prstGeom prst="blockArc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Isosceles Triangle 40"/>
          <p:cNvSpPr/>
          <p:nvPr/>
        </p:nvSpPr>
        <p:spPr>
          <a:xfrm>
            <a:off x="1463789" y="3440082"/>
            <a:ext cx="529681" cy="672326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Flowchart: Process 41"/>
          <p:cNvSpPr/>
          <p:nvPr/>
        </p:nvSpPr>
        <p:spPr>
          <a:xfrm>
            <a:off x="1269325" y="3417448"/>
            <a:ext cx="896440" cy="47172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Flowchart: Process 42"/>
          <p:cNvSpPr/>
          <p:nvPr/>
        </p:nvSpPr>
        <p:spPr>
          <a:xfrm rot="16200000">
            <a:off x="3813168" y="1607979"/>
            <a:ext cx="896440" cy="65907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Block Arc 43"/>
          <p:cNvSpPr/>
          <p:nvPr/>
        </p:nvSpPr>
        <p:spPr>
          <a:xfrm rot="16200000">
            <a:off x="4260892" y="1429493"/>
            <a:ext cx="908320" cy="415889"/>
          </a:xfrm>
          <a:prstGeom prst="blockArc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5" name="Bent Arrow 44"/>
          <p:cNvSpPr/>
          <p:nvPr/>
        </p:nvSpPr>
        <p:spPr>
          <a:xfrm>
            <a:off x="1871714" y="1742553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Bent Arrow 45"/>
          <p:cNvSpPr/>
          <p:nvPr/>
        </p:nvSpPr>
        <p:spPr>
          <a:xfrm rot="5400000">
            <a:off x="8681549" y="1962378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Bent Arrow 46"/>
          <p:cNvSpPr/>
          <p:nvPr/>
        </p:nvSpPr>
        <p:spPr>
          <a:xfrm rot="10800000">
            <a:off x="8556855" y="4743924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8" name="Bent Arrow 47"/>
          <p:cNvSpPr/>
          <p:nvPr/>
        </p:nvSpPr>
        <p:spPr>
          <a:xfrm rot="16200000">
            <a:off x="1725806" y="4629955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49" name="Straight Arrow Connector 48"/>
          <p:cNvCxnSpPr/>
          <p:nvPr/>
        </p:nvCxnSpPr>
        <p:spPr>
          <a:xfrm rot="10800000">
            <a:off x="1099940" y="3440560"/>
            <a:ext cx="329786" cy="329785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 rot="16200000" flipV="1">
            <a:off x="987513" y="3627937"/>
            <a:ext cx="347276" cy="332284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Flowchart: Process 50"/>
          <p:cNvSpPr/>
          <p:nvPr/>
        </p:nvSpPr>
        <p:spPr>
          <a:xfrm>
            <a:off x="9852117" y="4051615"/>
            <a:ext cx="45719" cy="1674835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Flowchart: Process 52"/>
          <p:cNvSpPr/>
          <p:nvPr/>
        </p:nvSpPr>
        <p:spPr>
          <a:xfrm rot="3284856" flipV="1">
            <a:off x="9681646" y="3580386"/>
            <a:ext cx="896440" cy="69757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Rectangle 53"/>
          <p:cNvSpPr/>
          <p:nvPr/>
        </p:nvSpPr>
        <p:spPr>
          <a:xfrm>
            <a:off x="8605320" y="3381307"/>
            <a:ext cx="1142365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Switch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="" xmlns:p14="http://schemas.microsoft.com/office/powerpoint/2010/main" val="18524435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967216" y="0"/>
            <a:ext cx="9118126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US" sz="4800" b="1" dirty="0" smtClean="0"/>
              <a:t>Capacitors in Parallel combination</a:t>
            </a:r>
            <a:endParaRPr lang="en-US" sz="4800" b="1" dirty="0"/>
          </a:p>
        </p:txBody>
      </p:sp>
      <p:sp>
        <p:nvSpPr>
          <p:cNvPr id="5" name="Rectangle 4"/>
          <p:cNvSpPr/>
          <p:nvPr/>
        </p:nvSpPr>
        <p:spPr>
          <a:xfrm rot="16200000">
            <a:off x="3120487" y="5670355"/>
            <a:ext cx="1078173" cy="682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 rot="16200000">
            <a:off x="3615503" y="5681614"/>
            <a:ext cx="693764" cy="457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 rot="16200000" flipV="1">
            <a:off x="3669131" y="5681613"/>
            <a:ext cx="1078173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 rot="16200000">
            <a:off x="4172643" y="5690712"/>
            <a:ext cx="675568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2724112" y="4756323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+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673099" y="4814919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-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324614" y="4400290"/>
            <a:ext cx="1549495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BATTERY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Flowchart: Process 11"/>
          <p:cNvSpPr/>
          <p:nvPr/>
        </p:nvSpPr>
        <p:spPr>
          <a:xfrm>
            <a:off x="1584195" y="5738249"/>
            <a:ext cx="2041259" cy="45719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lowchart: Process 12"/>
          <p:cNvSpPr/>
          <p:nvPr/>
        </p:nvSpPr>
        <p:spPr>
          <a:xfrm>
            <a:off x="4533287" y="5738250"/>
            <a:ext cx="6295550" cy="84262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Flowchart: Process 14"/>
          <p:cNvSpPr/>
          <p:nvPr/>
        </p:nvSpPr>
        <p:spPr>
          <a:xfrm flipH="1">
            <a:off x="1552215" y="1468192"/>
            <a:ext cx="45719" cy="4292752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lowchart: Process 15"/>
          <p:cNvSpPr/>
          <p:nvPr/>
        </p:nvSpPr>
        <p:spPr>
          <a:xfrm>
            <a:off x="4874109" y="1468192"/>
            <a:ext cx="5931118" cy="6305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lowchart: Process 18"/>
          <p:cNvSpPr/>
          <p:nvPr/>
        </p:nvSpPr>
        <p:spPr>
          <a:xfrm>
            <a:off x="6679051" y="1513911"/>
            <a:ext cx="45719" cy="1538806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2131159" y="3192293"/>
            <a:ext cx="731289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LED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2" name="Flowchart: Process 21"/>
          <p:cNvSpPr/>
          <p:nvPr/>
        </p:nvSpPr>
        <p:spPr>
          <a:xfrm>
            <a:off x="6679051" y="3447076"/>
            <a:ext cx="45719" cy="2308063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/>
          <p:cNvSpPr/>
          <p:nvPr/>
        </p:nvSpPr>
        <p:spPr>
          <a:xfrm>
            <a:off x="4431097" y="2853779"/>
            <a:ext cx="1572546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Capacitor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7" name="Flowchart: Process 26"/>
          <p:cNvSpPr/>
          <p:nvPr/>
        </p:nvSpPr>
        <p:spPr>
          <a:xfrm>
            <a:off x="10759508" y="1537521"/>
            <a:ext cx="45719" cy="1538806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Flowchart: Process 27"/>
          <p:cNvSpPr/>
          <p:nvPr/>
        </p:nvSpPr>
        <p:spPr>
          <a:xfrm>
            <a:off x="10759508" y="3439261"/>
            <a:ext cx="69329" cy="232660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/>
          <p:cNvSpPr/>
          <p:nvPr/>
        </p:nvSpPr>
        <p:spPr>
          <a:xfrm>
            <a:off x="8550187" y="2877389"/>
            <a:ext cx="1572546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Capacitor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3" name="Flowchart: Process 32"/>
          <p:cNvSpPr/>
          <p:nvPr/>
        </p:nvSpPr>
        <p:spPr>
          <a:xfrm>
            <a:off x="6269468" y="3058987"/>
            <a:ext cx="896440" cy="47172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Block Arc 1"/>
          <p:cNvSpPr/>
          <p:nvPr/>
        </p:nvSpPr>
        <p:spPr>
          <a:xfrm>
            <a:off x="6257588" y="3367992"/>
            <a:ext cx="908320" cy="415889"/>
          </a:xfrm>
          <a:prstGeom prst="blockArc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4" name="Flowchart: Process 33"/>
          <p:cNvSpPr/>
          <p:nvPr/>
        </p:nvSpPr>
        <p:spPr>
          <a:xfrm>
            <a:off x="10349927" y="3043960"/>
            <a:ext cx="896440" cy="47172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Block Arc 34"/>
          <p:cNvSpPr/>
          <p:nvPr/>
        </p:nvSpPr>
        <p:spPr>
          <a:xfrm>
            <a:off x="10338047" y="3352965"/>
            <a:ext cx="908320" cy="415889"/>
          </a:xfrm>
          <a:prstGeom prst="blockArc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Isosceles Triangle 2"/>
          <p:cNvSpPr/>
          <p:nvPr/>
        </p:nvSpPr>
        <p:spPr>
          <a:xfrm>
            <a:off x="1310232" y="3040836"/>
            <a:ext cx="529681" cy="672326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lowchart: Process 35"/>
          <p:cNvSpPr/>
          <p:nvPr/>
        </p:nvSpPr>
        <p:spPr>
          <a:xfrm>
            <a:off x="1128647" y="3018202"/>
            <a:ext cx="896440" cy="47172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/>
          <p:cNvSpPr/>
          <p:nvPr/>
        </p:nvSpPr>
        <p:spPr>
          <a:xfrm rot="16200000">
            <a:off x="3120488" y="5670355"/>
            <a:ext cx="1078173" cy="6823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 rot="16200000">
            <a:off x="3615504" y="5681614"/>
            <a:ext cx="693764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lowchart: Process 31"/>
          <p:cNvSpPr/>
          <p:nvPr/>
        </p:nvSpPr>
        <p:spPr>
          <a:xfrm>
            <a:off x="1584196" y="5738249"/>
            <a:ext cx="2041259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7" name="Straight Arrow Connector 36"/>
          <p:cNvCxnSpPr/>
          <p:nvPr/>
        </p:nvCxnSpPr>
        <p:spPr>
          <a:xfrm rot="10800000">
            <a:off x="972143" y="3067075"/>
            <a:ext cx="329786" cy="329785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rot="16200000" flipV="1">
            <a:off x="859716" y="3254452"/>
            <a:ext cx="347276" cy="332284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Flowchart: Process 38"/>
          <p:cNvSpPr/>
          <p:nvPr/>
        </p:nvSpPr>
        <p:spPr>
          <a:xfrm rot="19870170" flipV="1">
            <a:off x="4166536" y="1277265"/>
            <a:ext cx="896440" cy="57551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/>
          <p:cNvSpPr/>
          <p:nvPr/>
        </p:nvSpPr>
        <p:spPr>
          <a:xfrm>
            <a:off x="3985245" y="1580521"/>
            <a:ext cx="1142365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Switch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1" name="Flowchart: Process 40"/>
          <p:cNvSpPr/>
          <p:nvPr/>
        </p:nvSpPr>
        <p:spPr>
          <a:xfrm>
            <a:off x="1584195" y="1465961"/>
            <a:ext cx="2646882" cy="65290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Bent Arrow 41"/>
          <p:cNvSpPr/>
          <p:nvPr/>
        </p:nvSpPr>
        <p:spPr>
          <a:xfrm>
            <a:off x="1714375" y="1664436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Bent Arrow 42"/>
          <p:cNvSpPr/>
          <p:nvPr/>
        </p:nvSpPr>
        <p:spPr>
          <a:xfrm rot="5400000">
            <a:off x="9661209" y="1813669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4" name="Bent Arrow 43"/>
          <p:cNvSpPr/>
          <p:nvPr/>
        </p:nvSpPr>
        <p:spPr>
          <a:xfrm rot="5400000">
            <a:off x="5580752" y="1791082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5" name="Bent Arrow 44"/>
          <p:cNvSpPr/>
          <p:nvPr/>
        </p:nvSpPr>
        <p:spPr>
          <a:xfrm rot="10800000">
            <a:off x="9548032" y="4810973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Bent Arrow 45"/>
          <p:cNvSpPr/>
          <p:nvPr/>
        </p:nvSpPr>
        <p:spPr>
          <a:xfrm rot="10800000">
            <a:off x="5494713" y="4813017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Bent Arrow 46"/>
          <p:cNvSpPr/>
          <p:nvPr/>
        </p:nvSpPr>
        <p:spPr>
          <a:xfrm rot="16200000">
            <a:off x="1568212" y="4665502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8310235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953512" y="209282"/>
            <a:ext cx="778687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5400" dirty="0" smtClean="0"/>
              <a:t>Rutherford’s Atomic Model</a:t>
            </a:r>
            <a:endParaRPr lang="en-US" sz="5400" dirty="0"/>
          </a:p>
        </p:txBody>
      </p:sp>
      <p:pic>
        <p:nvPicPr>
          <p:cNvPr id="4100" name="Picture 4" descr="http://atomic.lindahall.org/siteart/questions/rutherford-atom-for-carbon_lg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6949" y="1392408"/>
            <a:ext cx="7620000" cy="535305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="" xmlns:p14="http://schemas.microsoft.com/office/powerpoint/2010/main" val="40734979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wheatstone bridge circuit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027" y="1214963"/>
            <a:ext cx="7797381" cy="5540005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/>
          <p:cNvSpPr/>
          <p:nvPr/>
        </p:nvSpPr>
        <p:spPr>
          <a:xfrm>
            <a:off x="3428702" y="18075"/>
            <a:ext cx="559217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dirty="0"/>
              <a:t>Wheatstone Bridge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790595" y="2061202"/>
            <a:ext cx="795411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</a:t>
            </a:r>
            <a:r>
              <a:rPr lang="en-US" sz="32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en-US" sz="5400" b="0" cap="none" spc="0" dirty="0" smtClean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9019131" y="1331373"/>
            <a:ext cx="2288895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At Balance:</a:t>
            </a:r>
            <a:endParaRPr lang="en-US" sz="36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773641" y="3061464"/>
            <a:ext cx="76976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</a:t>
            </a:r>
            <a:r>
              <a:rPr lang="en-US" sz="32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en-US" sz="5400" b="0" cap="none" spc="0" dirty="0" smtClean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050521" y="2084812"/>
            <a:ext cx="76976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</a:t>
            </a:r>
            <a:r>
              <a:rPr lang="en-US" sz="32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en-US" sz="5400" b="0" cap="none" spc="0" dirty="0" smtClean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10107701" y="2960576"/>
            <a:ext cx="78418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</a:t>
            </a:r>
            <a:r>
              <a:rPr lang="en-US" sz="40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</a:t>
            </a:r>
            <a:endParaRPr lang="en-US" sz="5400" b="0" cap="none" spc="0" dirty="0" smtClean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9552565" y="2561333"/>
            <a:ext cx="52931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=</a:t>
            </a:r>
            <a:endParaRPr lang="en-US" sz="5400" b="0" cap="none" spc="0" dirty="0" smtClean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9" name="Flowchart: Process 18"/>
          <p:cNvSpPr/>
          <p:nvPr/>
        </p:nvSpPr>
        <p:spPr>
          <a:xfrm>
            <a:off x="8698727" y="3000781"/>
            <a:ext cx="916011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lowchart: Process 19"/>
          <p:cNvSpPr/>
          <p:nvPr/>
        </p:nvSpPr>
        <p:spPr>
          <a:xfrm>
            <a:off x="10087496" y="2998634"/>
            <a:ext cx="916011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10607383" y="5203582"/>
            <a:ext cx="76976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</a:t>
            </a:r>
            <a:r>
              <a:rPr lang="en-US" sz="32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en-US" sz="5400" b="0" cap="none" spc="0" dirty="0" smtClean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11074839" y="4066012"/>
            <a:ext cx="76976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</a:t>
            </a:r>
            <a:r>
              <a:rPr lang="en-US" sz="32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en-US" sz="5400" b="0" cap="none" spc="0" dirty="0" smtClean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9839673" y="4095586"/>
            <a:ext cx="14881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</a:t>
            </a:r>
            <a:r>
              <a:rPr lang="en-US" sz="32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 </a:t>
            </a:r>
            <a:r>
              <a:rPr lang="en-US" sz="40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</a:t>
            </a:r>
            <a:endParaRPr lang="en-US" sz="5400" b="0" cap="none" spc="0" dirty="0" smtClean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8106408" y="4543927"/>
            <a:ext cx="1508330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=&gt;R</a:t>
            </a:r>
            <a:r>
              <a:rPr lang="en-US" sz="40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</a:t>
            </a:r>
            <a:endParaRPr lang="en-US" sz="5400" b="0" cap="none" spc="0" dirty="0" smtClean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9563296" y="4568291"/>
            <a:ext cx="52931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=</a:t>
            </a:r>
            <a:endParaRPr lang="en-US" sz="5400" b="0" cap="none" spc="0" dirty="0" smtClean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" name="Flowchart: Process 27"/>
          <p:cNvSpPr/>
          <p:nvPr/>
        </p:nvSpPr>
        <p:spPr>
          <a:xfrm>
            <a:off x="10098227" y="5069987"/>
            <a:ext cx="1817709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196948" y="3540935"/>
            <a:ext cx="703384" cy="50013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9V</a:t>
            </a:r>
            <a:endParaRPr lang="en-US" dirty="0"/>
          </a:p>
        </p:txBody>
      </p:sp>
      <p:sp>
        <p:nvSpPr>
          <p:cNvPr id="30" name="Rectangle 29"/>
          <p:cNvSpPr/>
          <p:nvPr/>
        </p:nvSpPr>
        <p:spPr>
          <a:xfrm>
            <a:off x="1318851" y="3507833"/>
            <a:ext cx="625491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9V</a:t>
            </a:r>
            <a:endParaRPr lang="en-US" sz="5400" b="0" cap="none" spc="0" dirty="0" smtClean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="" xmlns:p14="http://schemas.microsoft.com/office/powerpoint/2010/main" val="18841149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3464417" y="1738648"/>
            <a:ext cx="5190186" cy="4713667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4578439" y="2801154"/>
            <a:ext cx="2949262" cy="2717442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714840" y="108225"/>
            <a:ext cx="10689338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Bohr Atomic Model of Nitrogen Atom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" name="Oval 6"/>
          <p:cNvSpPr/>
          <p:nvPr/>
        </p:nvSpPr>
        <p:spPr>
          <a:xfrm>
            <a:off x="5563672" y="3683356"/>
            <a:ext cx="978796" cy="953038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5788414" y="3633816"/>
            <a:ext cx="52931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+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" name="Oval 1"/>
          <p:cNvSpPr/>
          <p:nvPr/>
        </p:nvSpPr>
        <p:spPr>
          <a:xfrm>
            <a:off x="3859306" y="2339788"/>
            <a:ext cx="457200" cy="461366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9" name="Oval 8"/>
          <p:cNvSpPr/>
          <p:nvPr/>
        </p:nvSpPr>
        <p:spPr>
          <a:xfrm>
            <a:off x="5824470" y="2542538"/>
            <a:ext cx="457200" cy="461366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0" name="Oval 9"/>
          <p:cNvSpPr/>
          <p:nvPr/>
        </p:nvSpPr>
        <p:spPr>
          <a:xfrm>
            <a:off x="5773267" y="5235385"/>
            <a:ext cx="457200" cy="461366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Oval 10"/>
          <p:cNvSpPr/>
          <p:nvPr/>
        </p:nvSpPr>
        <p:spPr>
          <a:xfrm>
            <a:off x="7185211" y="1900520"/>
            <a:ext cx="457200" cy="461366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Oval 11"/>
          <p:cNvSpPr/>
          <p:nvPr/>
        </p:nvSpPr>
        <p:spPr>
          <a:xfrm>
            <a:off x="3366250" y="4697507"/>
            <a:ext cx="457200" cy="461366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3" name="Oval 12"/>
          <p:cNvSpPr/>
          <p:nvPr/>
        </p:nvSpPr>
        <p:spPr>
          <a:xfrm>
            <a:off x="8408894" y="4199959"/>
            <a:ext cx="457200" cy="461366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4" name="Oval 13"/>
          <p:cNvSpPr/>
          <p:nvPr/>
        </p:nvSpPr>
        <p:spPr>
          <a:xfrm>
            <a:off x="6378384" y="6149788"/>
            <a:ext cx="457200" cy="461366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916185" y="5826622"/>
            <a:ext cx="1678665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Nucleus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166706" y="2680738"/>
            <a:ext cx="1733744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Electron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9173585" y="2682029"/>
            <a:ext cx="1455143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Proton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8499839" y="5901748"/>
            <a:ext cx="1746568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Neutron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331478" y="1252470"/>
            <a:ext cx="1152881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Orbit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21" name="Straight Arrow Connector 20"/>
          <p:cNvCxnSpPr/>
          <p:nvPr/>
        </p:nvCxnSpPr>
        <p:spPr>
          <a:xfrm>
            <a:off x="3594850" y="1575635"/>
            <a:ext cx="1196091" cy="323166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 flipV="1">
            <a:off x="2886313" y="2649890"/>
            <a:ext cx="834590" cy="30802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V="1">
            <a:off x="3589111" y="4430642"/>
            <a:ext cx="1972665" cy="154999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H="1">
            <a:off x="6230467" y="3009632"/>
            <a:ext cx="2864377" cy="108584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 flipH="1" flipV="1">
            <a:off x="6230467" y="4352762"/>
            <a:ext cx="2131535" cy="190656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4297963" y="2154823"/>
            <a:ext cx="554960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e-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215849" y="2245366"/>
            <a:ext cx="554960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e-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7656134" y="1612156"/>
            <a:ext cx="554960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e-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8750837" y="3788687"/>
            <a:ext cx="554960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e-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6175064" y="4844751"/>
            <a:ext cx="554960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e-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2955345" y="4303838"/>
            <a:ext cx="554960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e-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5853091" y="5823549"/>
            <a:ext cx="554960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e-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="" xmlns:p14="http://schemas.microsoft.com/office/powerpoint/2010/main" val="19301977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601732" y="37844"/>
            <a:ext cx="8529065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US" sz="4800" b="1" dirty="0" smtClean="0"/>
              <a:t>Working of Diode</a:t>
            </a:r>
            <a:endParaRPr lang="en-US" sz="4800" b="1" dirty="0"/>
          </a:p>
        </p:txBody>
      </p:sp>
      <p:sp>
        <p:nvSpPr>
          <p:cNvPr id="5" name="Rectangle 4"/>
          <p:cNvSpPr/>
          <p:nvPr/>
        </p:nvSpPr>
        <p:spPr>
          <a:xfrm rot="16200000">
            <a:off x="2349338" y="5103687"/>
            <a:ext cx="1078173" cy="6823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 rot="16200000">
            <a:off x="2844354" y="5114946"/>
            <a:ext cx="693764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 rot="16200000" flipV="1">
            <a:off x="2897982" y="5114945"/>
            <a:ext cx="1078173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 rot="16200000">
            <a:off x="3401494" y="5124044"/>
            <a:ext cx="675568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952963" y="4189655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+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758736" y="4225513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-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553465" y="3833622"/>
            <a:ext cx="1549495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BATTERY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Flowchart: Process 11"/>
          <p:cNvSpPr/>
          <p:nvPr/>
        </p:nvSpPr>
        <p:spPr>
          <a:xfrm flipV="1">
            <a:off x="993352" y="5112983"/>
            <a:ext cx="1860953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lowchart: Process 12"/>
          <p:cNvSpPr/>
          <p:nvPr/>
        </p:nvSpPr>
        <p:spPr>
          <a:xfrm>
            <a:off x="3731496" y="5096512"/>
            <a:ext cx="1696303" cy="52331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Flowchart: Process 13"/>
          <p:cNvSpPr/>
          <p:nvPr/>
        </p:nvSpPr>
        <p:spPr>
          <a:xfrm>
            <a:off x="5427799" y="991094"/>
            <a:ext cx="45719" cy="416760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Flowchart: Process 14"/>
          <p:cNvSpPr/>
          <p:nvPr/>
        </p:nvSpPr>
        <p:spPr>
          <a:xfrm flipH="1">
            <a:off x="948491" y="1017143"/>
            <a:ext cx="77699" cy="4138496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342853" y="2962565"/>
            <a:ext cx="731289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LED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" name="Flowchart: Process 16"/>
          <p:cNvSpPr/>
          <p:nvPr/>
        </p:nvSpPr>
        <p:spPr>
          <a:xfrm>
            <a:off x="978325" y="982511"/>
            <a:ext cx="2532980" cy="6038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lowchart: Process 17"/>
          <p:cNvSpPr/>
          <p:nvPr/>
        </p:nvSpPr>
        <p:spPr>
          <a:xfrm>
            <a:off x="1661377" y="980363"/>
            <a:ext cx="3253592" cy="77857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Flowchart: Process 18"/>
          <p:cNvSpPr/>
          <p:nvPr/>
        </p:nvSpPr>
        <p:spPr>
          <a:xfrm>
            <a:off x="2841466" y="991094"/>
            <a:ext cx="2586333" cy="69934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Isosceles Triangle 21"/>
          <p:cNvSpPr/>
          <p:nvPr/>
        </p:nvSpPr>
        <p:spPr>
          <a:xfrm>
            <a:off x="719389" y="2860535"/>
            <a:ext cx="529681" cy="67232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lowchart: Process 22"/>
          <p:cNvSpPr/>
          <p:nvPr/>
        </p:nvSpPr>
        <p:spPr>
          <a:xfrm>
            <a:off x="537804" y="2837901"/>
            <a:ext cx="896440" cy="47172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Isosceles Triangle 27"/>
          <p:cNvSpPr/>
          <p:nvPr/>
        </p:nvSpPr>
        <p:spPr>
          <a:xfrm>
            <a:off x="719390" y="2860535"/>
            <a:ext cx="529681" cy="67232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lowchart: Process 28"/>
          <p:cNvSpPr/>
          <p:nvPr/>
        </p:nvSpPr>
        <p:spPr>
          <a:xfrm>
            <a:off x="537805" y="2837901"/>
            <a:ext cx="896440" cy="47172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Isosceles Triangle 33"/>
          <p:cNvSpPr/>
          <p:nvPr/>
        </p:nvSpPr>
        <p:spPr>
          <a:xfrm>
            <a:off x="732270" y="2860535"/>
            <a:ext cx="529681" cy="672326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lowchart: Process 34"/>
          <p:cNvSpPr/>
          <p:nvPr/>
        </p:nvSpPr>
        <p:spPr>
          <a:xfrm>
            <a:off x="537806" y="2837901"/>
            <a:ext cx="896440" cy="47172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Bent Arrow 37"/>
          <p:cNvSpPr/>
          <p:nvPr/>
        </p:nvSpPr>
        <p:spPr>
          <a:xfrm>
            <a:off x="1140195" y="1163006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0" name="Bent Arrow 39"/>
          <p:cNvSpPr/>
          <p:nvPr/>
        </p:nvSpPr>
        <p:spPr>
          <a:xfrm rot="5400000">
            <a:off x="4277871" y="1363550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Bent Arrow 40"/>
          <p:cNvSpPr/>
          <p:nvPr/>
        </p:nvSpPr>
        <p:spPr>
          <a:xfrm rot="16200000">
            <a:off x="994287" y="4050408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Isosceles Triangle 41"/>
          <p:cNvSpPr/>
          <p:nvPr/>
        </p:nvSpPr>
        <p:spPr>
          <a:xfrm rot="10800000">
            <a:off x="5174793" y="2818925"/>
            <a:ext cx="529681" cy="672326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lowchart: Process 42"/>
          <p:cNvSpPr/>
          <p:nvPr/>
        </p:nvSpPr>
        <p:spPr>
          <a:xfrm>
            <a:off x="4991754" y="3479703"/>
            <a:ext cx="896440" cy="47172"/>
          </a:xfrm>
          <a:prstGeom prst="flowChart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/>
          <p:cNvSpPr/>
          <p:nvPr/>
        </p:nvSpPr>
        <p:spPr>
          <a:xfrm>
            <a:off x="3992007" y="2908901"/>
            <a:ext cx="1043877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Diode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5" name="Rectangle 44"/>
          <p:cNvSpPr/>
          <p:nvPr/>
        </p:nvSpPr>
        <p:spPr>
          <a:xfrm rot="16200000">
            <a:off x="7962389" y="5127297"/>
            <a:ext cx="1078173" cy="6823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 rot="16200000">
            <a:off x="8457405" y="5138556"/>
            <a:ext cx="693764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/>
          <p:cNvSpPr/>
          <p:nvPr/>
        </p:nvSpPr>
        <p:spPr>
          <a:xfrm rot="16200000" flipV="1">
            <a:off x="8511033" y="5138555"/>
            <a:ext cx="1078173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 rot="16200000">
            <a:off x="9014545" y="5147654"/>
            <a:ext cx="675568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7566014" y="4213265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+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9371787" y="4249123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-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8166516" y="3857232"/>
            <a:ext cx="1549495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BATTERY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2" name="Flowchart: Process 51"/>
          <p:cNvSpPr/>
          <p:nvPr/>
        </p:nvSpPr>
        <p:spPr>
          <a:xfrm flipV="1">
            <a:off x="6606403" y="5136593"/>
            <a:ext cx="1860953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Flowchart: Process 52"/>
          <p:cNvSpPr/>
          <p:nvPr/>
        </p:nvSpPr>
        <p:spPr>
          <a:xfrm>
            <a:off x="9344547" y="5120122"/>
            <a:ext cx="1696303" cy="52331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Flowchart: Process 53"/>
          <p:cNvSpPr/>
          <p:nvPr/>
        </p:nvSpPr>
        <p:spPr>
          <a:xfrm>
            <a:off x="11040850" y="1014704"/>
            <a:ext cx="45719" cy="416760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5" name="Flowchart: Process 54"/>
          <p:cNvSpPr/>
          <p:nvPr/>
        </p:nvSpPr>
        <p:spPr>
          <a:xfrm flipH="1">
            <a:off x="6561542" y="1040753"/>
            <a:ext cx="77699" cy="4138496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6" name="Rectangle 55"/>
          <p:cNvSpPr/>
          <p:nvPr/>
        </p:nvSpPr>
        <p:spPr>
          <a:xfrm>
            <a:off x="7015865" y="3480850"/>
            <a:ext cx="731289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LED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Flowchart: Process 56"/>
          <p:cNvSpPr/>
          <p:nvPr/>
        </p:nvSpPr>
        <p:spPr>
          <a:xfrm>
            <a:off x="6591376" y="1006121"/>
            <a:ext cx="2532980" cy="6038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8" name="Flowchart: Process 57"/>
          <p:cNvSpPr/>
          <p:nvPr/>
        </p:nvSpPr>
        <p:spPr>
          <a:xfrm>
            <a:off x="7274428" y="1003973"/>
            <a:ext cx="3253592" cy="77857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Flowchart: Process 58"/>
          <p:cNvSpPr/>
          <p:nvPr/>
        </p:nvSpPr>
        <p:spPr>
          <a:xfrm>
            <a:off x="8454517" y="1014704"/>
            <a:ext cx="2586333" cy="69934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0" name="Isosceles Triangle 59"/>
          <p:cNvSpPr/>
          <p:nvPr/>
        </p:nvSpPr>
        <p:spPr>
          <a:xfrm>
            <a:off x="6332440" y="2884145"/>
            <a:ext cx="529681" cy="67232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lowchart: Process 60"/>
          <p:cNvSpPr/>
          <p:nvPr/>
        </p:nvSpPr>
        <p:spPr>
          <a:xfrm>
            <a:off x="6150855" y="2861511"/>
            <a:ext cx="896440" cy="47172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2" name="Isosceles Triangle 61"/>
          <p:cNvSpPr/>
          <p:nvPr/>
        </p:nvSpPr>
        <p:spPr>
          <a:xfrm>
            <a:off x="6332441" y="2884145"/>
            <a:ext cx="529681" cy="67232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lowchart: Process 62"/>
          <p:cNvSpPr/>
          <p:nvPr/>
        </p:nvSpPr>
        <p:spPr>
          <a:xfrm>
            <a:off x="6150856" y="2861511"/>
            <a:ext cx="896440" cy="47172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4" name="Isosceles Triangle 63"/>
          <p:cNvSpPr/>
          <p:nvPr/>
        </p:nvSpPr>
        <p:spPr>
          <a:xfrm>
            <a:off x="6345321" y="2884145"/>
            <a:ext cx="529681" cy="672326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lowchart: Process 64"/>
          <p:cNvSpPr/>
          <p:nvPr/>
        </p:nvSpPr>
        <p:spPr>
          <a:xfrm>
            <a:off x="6150857" y="2861511"/>
            <a:ext cx="896440" cy="47172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9" name="Isosceles Triangle 68"/>
          <p:cNvSpPr/>
          <p:nvPr/>
        </p:nvSpPr>
        <p:spPr>
          <a:xfrm>
            <a:off x="10798868" y="2866479"/>
            <a:ext cx="529681" cy="672326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lowchart: Process 69"/>
          <p:cNvSpPr/>
          <p:nvPr/>
        </p:nvSpPr>
        <p:spPr>
          <a:xfrm>
            <a:off x="10592630" y="2839916"/>
            <a:ext cx="896440" cy="47172"/>
          </a:xfrm>
          <a:prstGeom prst="flowChart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1" name="Rectangle 70"/>
          <p:cNvSpPr/>
          <p:nvPr/>
        </p:nvSpPr>
        <p:spPr>
          <a:xfrm>
            <a:off x="9605058" y="2932511"/>
            <a:ext cx="1043877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Diode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2" name="Rectangle 71"/>
          <p:cNvSpPr/>
          <p:nvPr/>
        </p:nvSpPr>
        <p:spPr>
          <a:xfrm>
            <a:off x="2074142" y="5764373"/>
            <a:ext cx="2432909" cy="95410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Forward Biased</a:t>
            </a:r>
          </a:p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Current flows</a:t>
            </a:r>
            <a:endParaRPr lang="en-US" sz="2800" b="0" cap="none" spc="0" dirty="0" smtClean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7373213" y="5646316"/>
            <a:ext cx="3369962" cy="95410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Reverse</a:t>
            </a:r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Biased</a:t>
            </a:r>
          </a:p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Current does not flow</a:t>
            </a:r>
            <a:endParaRPr lang="en-US" sz="2800" b="0" cap="none" spc="0" dirty="0" smtClean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67" name="Straight Arrow Connector 66"/>
          <p:cNvCxnSpPr/>
          <p:nvPr/>
        </p:nvCxnSpPr>
        <p:spPr>
          <a:xfrm rot="10800000">
            <a:off x="329784" y="2848132"/>
            <a:ext cx="329786" cy="329785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/>
          <p:cNvCxnSpPr/>
          <p:nvPr/>
        </p:nvCxnSpPr>
        <p:spPr>
          <a:xfrm rot="16200000" flipV="1">
            <a:off x="217357" y="3035509"/>
            <a:ext cx="347276" cy="332284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/>
          <p:cNvCxnSpPr/>
          <p:nvPr/>
        </p:nvCxnSpPr>
        <p:spPr>
          <a:xfrm flipV="1">
            <a:off x="6942923" y="2908091"/>
            <a:ext cx="417247" cy="347275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/>
          <p:cNvCxnSpPr/>
          <p:nvPr/>
        </p:nvCxnSpPr>
        <p:spPr>
          <a:xfrm flipV="1">
            <a:off x="7095323" y="3117954"/>
            <a:ext cx="339798" cy="289813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/>
          <p:cNvSpPr/>
          <p:nvPr/>
        </p:nvSpPr>
        <p:spPr>
          <a:xfrm>
            <a:off x="2388271" y="1588956"/>
            <a:ext cx="177899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Current</a:t>
            </a:r>
            <a:endParaRPr lang="en-US" sz="2000" b="1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8095507" y="1400543"/>
            <a:ext cx="158896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 Current</a:t>
            </a:r>
            <a:endParaRPr lang="en-US" sz="2400" b="1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="" xmlns:p14="http://schemas.microsoft.com/office/powerpoint/2010/main" val="7951546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601732" y="37844"/>
            <a:ext cx="8529065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US" sz="4800" b="1" dirty="0" smtClean="0"/>
              <a:t>Diode as a Switch</a:t>
            </a:r>
            <a:endParaRPr lang="en-US" sz="4800" b="1" dirty="0"/>
          </a:p>
        </p:txBody>
      </p:sp>
      <p:sp>
        <p:nvSpPr>
          <p:cNvPr id="5" name="Rectangle 4"/>
          <p:cNvSpPr/>
          <p:nvPr/>
        </p:nvSpPr>
        <p:spPr>
          <a:xfrm rot="16200000">
            <a:off x="2349338" y="5103687"/>
            <a:ext cx="1078173" cy="6823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 rot="16200000">
            <a:off x="2844354" y="5114946"/>
            <a:ext cx="693764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 rot="16200000" flipV="1">
            <a:off x="2897982" y="5114945"/>
            <a:ext cx="1078173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 rot="16200000">
            <a:off x="3401494" y="5124044"/>
            <a:ext cx="675568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952963" y="4189655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+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758736" y="4225513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-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553465" y="3833622"/>
            <a:ext cx="1549495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BATTERY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Flowchart: Process 11"/>
          <p:cNvSpPr/>
          <p:nvPr/>
        </p:nvSpPr>
        <p:spPr>
          <a:xfrm flipV="1">
            <a:off x="993352" y="5112983"/>
            <a:ext cx="1860953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lowchart: Process 12"/>
          <p:cNvSpPr/>
          <p:nvPr/>
        </p:nvSpPr>
        <p:spPr>
          <a:xfrm>
            <a:off x="3731496" y="5096512"/>
            <a:ext cx="1696303" cy="52331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Flowchart: Process 13"/>
          <p:cNvSpPr/>
          <p:nvPr/>
        </p:nvSpPr>
        <p:spPr>
          <a:xfrm>
            <a:off x="5427799" y="991094"/>
            <a:ext cx="45719" cy="416760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Flowchart: Process 14"/>
          <p:cNvSpPr/>
          <p:nvPr/>
        </p:nvSpPr>
        <p:spPr>
          <a:xfrm flipH="1">
            <a:off x="948491" y="1017143"/>
            <a:ext cx="77699" cy="4138496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342853" y="2962565"/>
            <a:ext cx="731289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LED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" name="Flowchart: Process 16"/>
          <p:cNvSpPr/>
          <p:nvPr/>
        </p:nvSpPr>
        <p:spPr>
          <a:xfrm>
            <a:off x="978325" y="982511"/>
            <a:ext cx="2532980" cy="6038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lowchart: Process 17"/>
          <p:cNvSpPr/>
          <p:nvPr/>
        </p:nvSpPr>
        <p:spPr>
          <a:xfrm>
            <a:off x="1661377" y="980363"/>
            <a:ext cx="3253592" cy="77857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Flowchart: Process 18"/>
          <p:cNvSpPr/>
          <p:nvPr/>
        </p:nvSpPr>
        <p:spPr>
          <a:xfrm>
            <a:off x="2841466" y="991094"/>
            <a:ext cx="2586333" cy="69934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Isosceles Triangle 21"/>
          <p:cNvSpPr/>
          <p:nvPr/>
        </p:nvSpPr>
        <p:spPr>
          <a:xfrm>
            <a:off x="719389" y="2860535"/>
            <a:ext cx="529681" cy="67232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lowchart: Process 22"/>
          <p:cNvSpPr/>
          <p:nvPr/>
        </p:nvSpPr>
        <p:spPr>
          <a:xfrm>
            <a:off x="537804" y="2837901"/>
            <a:ext cx="896440" cy="47172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Isosceles Triangle 27"/>
          <p:cNvSpPr/>
          <p:nvPr/>
        </p:nvSpPr>
        <p:spPr>
          <a:xfrm>
            <a:off x="719390" y="2860535"/>
            <a:ext cx="529681" cy="67232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lowchart: Process 28"/>
          <p:cNvSpPr/>
          <p:nvPr/>
        </p:nvSpPr>
        <p:spPr>
          <a:xfrm>
            <a:off x="537805" y="2837901"/>
            <a:ext cx="896440" cy="47172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Isosceles Triangle 33"/>
          <p:cNvSpPr/>
          <p:nvPr/>
        </p:nvSpPr>
        <p:spPr>
          <a:xfrm>
            <a:off x="732270" y="2860535"/>
            <a:ext cx="529681" cy="672326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lowchart: Process 34"/>
          <p:cNvSpPr/>
          <p:nvPr/>
        </p:nvSpPr>
        <p:spPr>
          <a:xfrm>
            <a:off x="537806" y="2837901"/>
            <a:ext cx="896440" cy="47172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Bent Arrow 37"/>
          <p:cNvSpPr/>
          <p:nvPr/>
        </p:nvSpPr>
        <p:spPr>
          <a:xfrm>
            <a:off x="1140195" y="1163006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0" name="Bent Arrow 39"/>
          <p:cNvSpPr/>
          <p:nvPr/>
        </p:nvSpPr>
        <p:spPr>
          <a:xfrm rot="5400000">
            <a:off x="4277871" y="1363550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Bent Arrow 40"/>
          <p:cNvSpPr/>
          <p:nvPr/>
        </p:nvSpPr>
        <p:spPr>
          <a:xfrm rot="16200000">
            <a:off x="994287" y="4050408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Isosceles Triangle 41"/>
          <p:cNvSpPr/>
          <p:nvPr/>
        </p:nvSpPr>
        <p:spPr>
          <a:xfrm rot="10800000">
            <a:off x="5174793" y="2818925"/>
            <a:ext cx="529681" cy="672326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lowchart: Process 42"/>
          <p:cNvSpPr/>
          <p:nvPr/>
        </p:nvSpPr>
        <p:spPr>
          <a:xfrm>
            <a:off x="4991754" y="3479703"/>
            <a:ext cx="896440" cy="47172"/>
          </a:xfrm>
          <a:prstGeom prst="flowChart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/>
          <p:cNvSpPr/>
          <p:nvPr/>
        </p:nvSpPr>
        <p:spPr>
          <a:xfrm>
            <a:off x="3992007" y="2908901"/>
            <a:ext cx="1043877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Diode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5" name="Rectangle 44"/>
          <p:cNvSpPr/>
          <p:nvPr/>
        </p:nvSpPr>
        <p:spPr>
          <a:xfrm rot="16200000">
            <a:off x="7962389" y="5127297"/>
            <a:ext cx="1078173" cy="6823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 rot="16200000">
            <a:off x="8457405" y="5138556"/>
            <a:ext cx="693764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/>
          <p:cNvSpPr/>
          <p:nvPr/>
        </p:nvSpPr>
        <p:spPr>
          <a:xfrm rot="16200000" flipV="1">
            <a:off x="8511033" y="5138555"/>
            <a:ext cx="1078173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 rot="16200000">
            <a:off x="9014545" y="5147654"/>
            <a:ext cx="675568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7566014" y="4213265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+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9371787" y="4249123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-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8166516" y="3857232"/>
            <a:ext cx="1549495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BATTERY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2" name="Flowchart: Process 51"/>
          <p:cNvSpPr/>
          <p:nvPr/>
        </p:nvSpPr>
        <p:spPr>
          <a:xfrm flipV="1">
            <a:off x="6606403" y="5136593"/>
            <a:ext cx="1860953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Flowchart: Process 52"/>
          <p:cNvSpPr/>
          <p:nvPr/>
        </p:nvSpPr>
        <p:spPr>
          <a:xfrm>
            <a:off x="9344547" y="5120122"/>
            <a:ext cx="1696303" cy="52331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Flowchart: Process 53"/>
          <p:cNvSpPr/>
          <p:nvPr/>
        </p:nvSpPr>
        <p:spPr>
          <a:xfrm>
            <a:off x="11040850" y="1014704"/>
            <a:ext cx="45719" cy="416760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5" name="Flowchart: Process 54"/>
          <p:cNvSpPr/>
          <p:nvPr/>
        </p:nvSpPr>
        <p:spPr>
          <a:xfrm flipH="1">
            <a:off x="6561542" y="1040753"/>
            <a:ext cx="77699" cy="4138496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6" name="Rectangle 55"/>
          <p:cNvSpPr/>
          <p:nvPr/>
        </p:nvSpPr>
        <p:spPr>
          <a:xfrm>
            <a:off x="7015865" y="3480850"/>
            <a:ext cx="731289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LED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Flowchart: Process 56"/>
          <p:cNvSpPr/>
          <p:nvPr/>
        </p:nvSpPr>
        <p:spPr>
          <a:xfrm>
            <a:off x="6591376" y="1006121"/>
            <a:ext cx="2532980" cy="6038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8" name="Flowchart: Process 57"/>
          <p:cNvSpPr/>
          <p:nvPr/>
        </p:nvSpPr>
        <p:spPr>
          <a:xfrm>
            <a:off x="7274428" y="1003973"/>
            <a:ext cx="3253592" cy="77857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Flowchart: Process 58"/>
          <p:cNvSpPr/>
          <p:nvPr/>
        </p:nvSpPr>
        <p:spPr>
          <a:xfrm>
            <a:off x="8454517" y="1014704"/>
            <a:ext cx="2586333" cy="69934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0" name="Isosceles Triangle 59"/>
          <p:cNvSpPr/>
          <p:nvPr/>
        </p:nvSpPr>
        <p:spPr>
          <a:xfrm>
            <a:off x="6332440" y="2884145"/>
            <a:ext cx="529681" cy="67232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lowchart: Process 60"/>
          <p:cNvSpPr/>
          <p:nvPr/>
        </p:nvSpPr>
        <p:spPr>
          <a:xfrm>
            <a:off x="6150855" y="2861511"/>
            <a:ext cx="896440" cy="47172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2" name="Isosceles Triangle 61"/>
          <p:cNvSpPr/>
          <p:nvPr/>
        </p:nvSpPr>
        <p:spPr>
          <a:xfrm>
            <a:off x="6332441" y="2884145"/>
            <a:ext cx="529681" cy="67232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lowchart: Process 62"/>
          <p:cNvSpPr/>
          <p:nvPr/>
        </p:nvSpPr>
        <p:spPr>
          <a:xfrm>
            <a:off x="6150856" y="2861511"/>
            <a:ext cx="896440" cy="47172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4" name="Isosceles Triangle 63"/>
          <p:cNvSpPr/>
          <p:nvPr/>
        </p:nvSpPr>
        <p:spPr>
          <a:xfrm>
            <a:off x="6345321" y="2884145"/>
            <a:ext cx="529681" cy="672326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lowchart: Process 64"/>
          <p:cNvSpPr/>
          <p:nvPr/>
        </p:nvSpPr>
        <p:spPr>
          <a:xfrm>
            <a:off x="6150857" y="2861511"/>
            <a:ext cx="896440" cy="47172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9" name="Isosceles Triangle 68"/>
          <p:cNvSpPr/>
          <p:nvPr/>
        </p:nvSpPr>
        <p:spPr>
          <a:xfrm>
            <a:off x="10798868" y="2866479"/>
            <a:ext cx="529681" cy="672326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lowchart: Process 69"/>
          <p:cNvSpPr/>
          <p:nvPr/>
        </p:nvSpPr>
        <p:spPr>
          <a:xfrm>
            <a:off x="10592630" y="2839916"/>
            <a:ext cx="896440" cy="47172"/>
          </a:xfrm>
          <a:prstGeom prst="flowChart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1" name="Rectangle 70"/>
          <p:cNvSpPr/>
          <p:nvPr/>
        </p:nvSpPr>
        <p:spPr>
          <a:xfrm>
            <a:off x="9605058" y="2932511"/>
            <a:ext cx="1043877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Diode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2" name="Rectangle 71"/>
          <p:cNvSpPr/>
          <p:nvPr/>
        </p:nvSpPr>
        <p:spPr>
          <a:xfrm>
            <a:off x="2074142" y="5764373"/>
            <a:ext cx="2432909" cy="95410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Forward Biased</a:t>
            </a:r>
          </a:p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Current flows</a:t>
            </a:r>
            <a:endParaRPr lang="en-US" sz="2800" b="0" cap="none" spc="0" dirty="0" smtClean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7373213" y="5646316"/>
            <a:ext cx="3369962" cy="95410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Reverse</a:t>
            </a:r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Biased</a:t>
            </a:r>
          </a:p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Current does not flow</a:t>
            </a:r>
            <a:endParaRPr lang="en-US" sz="2800" b="0" cap="none" spc="0" dirty="0" smtClean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67" name="Straight Arrow Connector 66"/>
          <p:cNvCxnSpPr/>
          <p:nvPr/>
        </p:nvCxnSpPr>
        <p:spPr>
          <a:xfrm rot="10800000">
            <a:off x="329784" y="2848132"/>
            <a:ext cx="329786" cy="329785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/>
          <p:cNvCxnSpPr/>
          <p:nvPr/>
        </p:nvCxnSpPr>
        <p:spPr>
          <a:xfrm rot="16200000" flipV="1">
            <a:off x="217357" y="3035509"/>
            <a:ext cx="347276" cy="332284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/>
          <p:cNvCxnSpPr/>
          <p:nvPr/>
        </p:nvCxnSpPr>
        <p:spPr>
          <a:xfrm flipV="1">
            <a:off x="6942923" y="2908091"/>
            <a:ext cx="417247" cy="347275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/>
          <p:cNvCxnSpPr/>
          <p:nvPr/>
        </p:nvCxnSpPr>
        <p:spPr>
          <a:xfrm flipV="1">
            <a:off x="7095323" y="3117954"/>
            <a:ext cx="339798" cy="289813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/>
          <p:cNvSpPr/>
          <p:nvPr/>
        </p:nvSpPr>
        <p:spPr>
          <a:xfrm>
            <a:off x="2388271" y="1588956"/>
            <a:ext cx="177899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Current</a:t>
            </a:r>
            <a:endParaRPr lang="en-US" sz="2000" b="1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8095507" y="1400543"/>
            <a:ext cx="158896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 Current</a:t>
            </a:r>
            <a:endParaRPr lang="en-US" sz="2400" b="1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="" xmlns:p14="http://schemas.microsoft.com/office/powerpoint/2010/main" val="39906392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992975" y="172620"/>
            <a:ext cx="738477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5400" b="1" dirty="0"/>
              <a:t>Light </a:t>
            </a:r>
            <a:r>
              <a:rPr lang="en-US" sz="5400" b="1" dirty="0" smtClean="0"/>
              <a:t>Dependent </a:t>
            </a:r>
            <a:r>
              <a:rPr lang="en-US" sz="5400" b="1" dirty="0"/>
              <a:t>Resistor</a:t>
            </a:r>
          </a:p>
        </p:txBody>
      </p:sp>
      <p:sp>
        <p:nvSpPr>
          <p:cNvPr id="6" name="Rectangle 5"/>
          <p:cNvSpPr/>
          <p:nvPr/>
        </p:nvSpPr>
        <p:spPr>
          <a:xfrm rot="16200000">
            <a:off x="4706170" y="5683234"/>
            <a:ext cx="1078173" cy="6823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 rot="16200000">
            <a:off x="5201186" y="5694493"/>
            <a:ext cx="693764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 rot="16200000" flipV="1">
            <a:off x="5254814" y="5694492"/>
            <a:ext cx="1078173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 rot="16200000">
            <a:off x="5758326" y="5703591"/>
            <a:ext cx="675568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4309795" y="4769202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+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553203" y="4794021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-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910297" y="4413169"/>
            <a:ext cx="1549495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BATTERY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3" name="Flowchart: Process 12"/>
          <p:cNvSpPr/>
          <p:nvPr/>
        </p:nvSpPr>
        <p:spPr>
          <a:xfrm flipV="1">
            <a:off x="1740326" y="5692531"/>
            <a:ext cx="3470812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Flowchart: Process 13"/>
          <p:cNvSpPr/>
          <p:nvPr/>
        </p:nvSpPr>
        <p:spPr>
          <a:xfrm flipV="1">
            <a:off x="6091483" y="5692532"/>
            <a:ext cx="3812370" cy="49638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Flowchart: Process 14"/>
          <p:cNvSpPr/>
          <p:nvPr/>
        </p:nvSpPr>
        <p:spPr>
          <a:xfrm>
            <a:off x="9858134" y="1570641"/>
            <a:ext cx="45719" cy="416760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lowchart: Process 15"/>
          <p:cNvSpPr/>
          <p:nvPr/>
        </p:nvSpPr>
        <p:spPr>
          <a:xfrm flipH="1">
            <a:off x="1695465" y="1596690"/>
            <a:ext cx="77699" cy="4138496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/>
          <p:cNvSpPr/>
          <p:nvPr/>
        </p:nvSpPr>
        <p:spPr>
          <a:xfrm>
            <a:off x="2089827" y="3542112"/>
            <a:ext cx="731289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LED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8" name="Flowchart: Process 17"/>
          <p:cNvSpPr/>
          <p:nvPr/>
        </p:nvSpPr>
        <p:spPr>
          <a:xfrm>
            <a:off x="1725298" y="1576728"/>
            <a:ext cx="3554077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Flowchart: Process 19"/>
          <p:cNvSpPr/>
          <p:nvPr/>
        </p:nvSpPr>
        <p:spPr>
          <a:xfrm>
            <a:off x="5937161" y="1566721"/>
            <a:ext cx="3920974" cy="73854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/>
          <p:cNvSpPr/>
          <p:nvPr/>
        </p:nvSpPr>
        <p:spPr>
          <a:xfrm>
            <a:off x="5245256" y="2074656"/>
            <a:ext cx="752130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LDR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3" name="Isosceles Triangle 22"/>
          <p:cNvSpPr/>
          <p:nvPr/>
        </p:nvSpPr>
        <p:spPr>
          <a:xfrm>
            <a:off x="1466363" y="3440082"/>
            <a:ext cx="529681" cy="67232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lowchart: Process 23"/>
          <p:cNvSpPr/>
          <p:nvPr/>
        </p:nvSpPr>
        <p:spPr>
          <a:xfrm>
            <a:off x="1284778" y="3417448"/>
            <a:ext cx="896440" cy="47172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Isosceles Triangle 28"/>
          <p:cNvSpPr/>
          <p:nvPr/>
        </p:nvSpPr>
        <p:spPr>
          <a:xfrm>
            <a:off x="1466364" y="3440082"/>
            <a:ext cx="529681" cy="67232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lowchart: Process 29"/>
          <p:cNvSpPr/>
          <p:nvPr/>
        </p:nvSpPr>
        <p:spPr>
          <a:xfrm>
            <a:off x="1284779" y="3417448"/>
            <a:ext cx="896440" cy="47172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Isosceles Triangle 34"/>
          <p:cNvSpPr/>
          <p:nvPr/>
        </p:nvSpPr>
        <p:spPr>
          <a:xfrm>
            <a:off x="1479244" y="3440082"/>
            <a:ext cx="529681" cy="672326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lowchart: Process 35"/>
          <p:cNvSpPr/>
          <p:nvPr/>
        </p:nvSpPr>
        <p:spPr>
          <a:xfrm>
            <a:off x="1284780" y="3417448"/>
            <a:ext cx="896440" cy="47172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Bent Arrow 38"/>
          <p:cNvSpPr/>
          <p:nvPr/>
        </p:nvSpPr>
        <p:spPr>
          <a:xfrm>
            <a:off x="1887169" y="1742553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0" name="Bent Arrow 39"/>
          <p:cNvSpPr/>
          <p:nvPr/>
        </p:nvSpPr>
        <p:spPr>
          <a:xfrm rot="5400000">
            <a:off x="8697004" y="1962378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Bent Arrow 40"/>
          <p:cNvSpPr/>
          <p:nvPr/>
        </p:nvSpPr>
        <p:spPr>
          <a:xfrm rot="10800000">
            <a:off x="8572310" y="4743924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Bent Arrow 41"/>
          <p:cNvSpPr/>
          <p:nvPr/>
        </p:nvSpPr>
        <p:spPr>
          <a:xfrm rot="16200000">
            <a:off x="1741261" y="4629955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Oval 42"/>
          <p:cNvSpPr/>
          <p:nvPr/>
        </p:nvSpPr>
        <p:spPr>
          <a:xfrm>
            <a:off x="5306725" y="1277720"/>
            <a:ext cx="603086" cy="637939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Arrow Connector 30"/>
          <p:cNvCxnSpPr/>
          <p:nvPr/>
        </p:nvCxnSpPr>
        <p:spPr>
          <a:xfrm rot="10800000">
            <a:off x="1115395" y="3466318"/>
            <a:ext cx="329786" cy="329785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 rot="16200000" flipV="1">
            <a:off x="1002968" y="3653695"/>
            <a:ext cx="347276" cy="332284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36720485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755114" y="254832"/>
            <a:ext cx="569623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Steady</a:t>
            </a:r>
            <a:r>
              <a:rPr lang="en-US" sz="5400" b="1" cap="none" spc="0" dirty="0" smtClean="0">
                <a:ln w="17780" cmpd="sng">
                  <a:solidFill>
                    <a:srgbClr val="FFFFFF"/>
                  </a:solidFill>
                  <a:prstDash val="solid"/>
                  <a:miter lim="800000"/>
                </a:ln>
                <a:gradFill rotWithShape="1">
                  <a:gsLst>
                    <a:gs pos="0">
                      <a:srgbClr val="000000">
                        <a:tint val="92000"/>
                        <a:shade val="100000"/>
                        <a:satMod val="150000"/>
                      </a:srgbClr>
                    </a:gs>
                    <a:gs pos="49000">
                      <a:srgbClr val="000000">
                        <a:tint val="89000"/>
                        <a:shade val="90000"/>
                        <a:satMod val="150000"/>
                      </a:srgbClr>
                    </a:gs>
                    <a:gs pos="50000">
                      <a:srgbClr val="000000">
                        <a:tint val="100000"/>
                        <a:shade val="75000"/>
                        <a:satMod val="150000"/>
                      </a:srgbClr>
                    </a:gs>
                    <a:gs pos="95000">
                      <a:srgbClr val="000000">
                        <a:shade val="47000"/>
                        <a:satMod val="150000"/>
                      </a:srgbClr>
                    </a:gs>
                    <a:gs pos="100000">
                      <a:srgbClr val="000000">
                        <a:shade val="39000"/>
                        <a:satMod val="150000"/>
                      </a:srgbClr>
                    </a:gs>
                  </a:gsLst>
                  <a:lin ang="5400000"/>
                </a:gradFill>
                <a:effectLst>
                  <a:outerShdw blurRad="50800" algn="tl" rotWithShape="0">
                    <a:srgbClr val="000000"/>
                  </a:outerShdw>
                </a:effectLst>
              </a:rPr>
              <a:t> </a:t>
            </a:r>
            <a:r>
              <a:rPr lang="en-US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Hand</a:t>
            </a:r>
            <a:r>
              <a:rPr lang="en-US" sz="5400" b="1" cap="none" spc="0" dirty="0" smtClean="0">
                <a:ln w="17780" cmpd="sng">
                  <a:solidFill>
                    <a:srgbClr val="FFFFFF"/>
                  </a:solidFill>
                  <a:prstDash val="solid"/>
                  <a:miter lim="800000"/>
                </a:ln>
                <a:gradFill rotWithShape="1">
                  <a:gsLst>
                    <a:gs pos="0">
                      <a:srgbClr val="000000">
                        <a:tint val="92000"/>
                        <a:shade val="100000"/>
                        <a:satMod val="150000"/>
                      </a:srgbClr>
                    </a:gs>
                    <a:gs pos="49000">
                      <a:srgbClr val="000000">
                        <a:tint val="89000"/>
                        <a:shade val="90000"/>
                        <a:satMod val="150000"/>
                      </a:srgbClr>
                    </a:gs>
                    <a:gs pos="50000">
                      <a:srgbClr val="000000">
                        <a:tint val="100000"/>
                        <a:shade val="75000"/>
                        <a:satMod val="150000"/>
                      </a:srgbClr>
                    </a:gs>
                    <a:gs pos="95000">
                      <a:srgbClr val="000000">
                        <a:shade val="47000"/>
                        <a:satMod val="150000"/>
                      </a:srgbClr>
                    </a:gs>
                    <a:gs pos="100000">
                      <a:srgbClr val="000000">
                        <a:shade val="39000"/>
                        <a:satMod val="150000"/>
                      </a:srgbClr>
                    </a:gs>
                  </a:gsLst>
                  <a:lin ang="5400000"/>
                </a:gradFill>
                <a:effectLst>
                  <a:outerShdw blurRad="50800" algn="tl" rotWithShape="0">
                    <a:srgbClr val="000000"/>
                  </a:outerShdw>
                </a:effectLst>
              </a:rPr>
              <a:t> </a:t>
            </a:r>
            <a:r>
              <a:rPr lang="en-US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Tester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029278" y="2067925"/>
            <a:ext cx="3136051" cy="584775"/>
          </a:xfrm>
          <a:prstGeom prst="rect">
            <a:avLst/>
          </a:prstGeom>
          <a:solidFill>
            <a:schemeClr val="bg2"/>
          </a:solidFill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200" b="1" cap="none" spc="0" dirty="0" smtClean="0">
                <a:ln w="17780" cmpd="sng">
                  <a:solidFill>
                    <a:srgbClr val="FFFFFF"/>
                  </a:solidFill>
                  <a:prstDash val="solid"/>
                  <a:miter lim="800000"/>
                </a:ln>
                <a:gradFill rotWithShape="1">
                  <a:gsLst>
                    <a:gs pos="0">
                      <a:srgbClr val="000000">
                        <a:tint val="92000"/>
                        <a:shade val="100000"/>
                        <a:satMod val="150000"/>
                      </a:srgbClr>
                    </a:gs>
                    <a:gs pos="49000">
                      <a:srgbClr val="000000">
                        <a:tint val="89000"/>
                        <a:shade val="90000"/>
                        <a:satMod val="150000"/>
                      </a:srgbClr>
                    </a:gs>
                    <a:gs pos="50000">
                      <a:srgbClr val="000000">
                        <a:tint val="100000"/>
                        <a:shade val="75000"/>
                        <a:satMod val="150000"/>
                      </a:srgbClr>
                    </a:gs>
                    <a:gs pos="95000">
                      <a:srgbClr val="000000">
                        <a:shade val="47000"/>
                        <a:satMod val="150000"/>
                      </a:srgbClr>
                    </a:gs>
                    <a:gs pos="100000">
                      <a:srgbClr val="000000">
                        <a:shade val="39000"/>
                        <a:satMod val="150000"/>
                      </a:srgbClr>
                    </a:gs>
                  </a:gsLst>
                  <a:lin ang="5400000"/>
                </a:gradFill>
                <a:effectLst>
                  <a:outerShdw blurRad="50800" algn="tl" rotWithShape="0">
                    <a:srgbClr val="000000"/>
                  </a:outerShdw>
                </a:effectLst>
              </a:rPr>
              <a:t>Wire Loop</a:t>
            </a:r>
            <a:endParaRPr lang="en-US" sz="3200" b="1" cap="none" spc="0" dirty="0">
              <a:ln w="17780" cmpd="sng">
                <a:solidFill>
                  <a:srgbClr val="FFFFFF"/>
                </a:solidFill>
                <a:prstDash val="solid"/>
                <a:miter lim="800000"/>
              </a:ln>
              <a:gradFill rotWithShape="1">
                <a:gsLst>
                  <a:gs pos="0">
                    <a:srgbClr val="000000">
                      <a:tint val="92000"/>
                      <a:shade val="100000"/>
                      <a:satMod val="150000"/>
                    </a:srgbClr>
                  </a:gs>
                  <a:gs pos="49000">
                    <a:srgbClr val="000000">
                      <a:tint val="89000"/>
                      <a:shade val="90000"/>
                      <a:satMod val="150000"/>
                    </a:srgbClr>
                  </a:gs>
                  <a:gs pos="50000">
                    <a:srgbClr val="000000">
                      <a:tint val="100000"/>
                      <a:shade val="75000"/>
                      <a:satMod val="150000"/>
                    </a:srgbClr>
                  </a:gs>
                  <a:gs pos="95000">
                    <a:srgbClr val="000000">
                      <a:shade val="47000"/>
                      <a:satMod val="150000"/>
                    </a:srgbClr>
                  </a:gs>
                  <a:gs pos="100000">
                    <a:srgbClr val="000000">
                      <a:shade val="39000"/>
                      <a:satMod val="150000"/>
                    </a:srgbClr>
                  </a:gs>
                </a:gsLst>
                <a:lin ang="5400000"/>
              </a:gradFill>
              <a:effectLst>
                <a:outerShdw blurRad="50800" algn="tl" rotWithShape="0">
                  <a:srgbClr val="000000"/>
                </a:outerShdw>
              </a:effectLst>
            </a:endParaRPr>
          </a:p>
        </p:txBody>
      </p:sp>
      <p:sp>
        <p:nvSpPr>
          <p:cNvPr id="7" name="Left Arrow 6"/>
          <p:cNvSpPr/>
          <p:nvPr/>
        </p:nvSpPr>
        <p:spPr>
          <a:xfrm>
            <a:off x="1334125" y="2158584"/>
            <a:ext cx="3072983" cy="299803"/>
          </a:xfrm>
          <a:prstGeom prst="lef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Left Arrow 7"/>
          <p:cNvSpPr/>
          <p:nvPr/>
        </p:nvSpPr>
        <p:spPr>
          <a:xfrm rot="10800000">
            <a:off x="7077856" y="2221043"/>
            <a:ext cx="3072983" cy="299803"/>
          </a:xfrm>
          <a:prstGeom prst="lef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lowchart: Connector 8"/>
          <p:cNvSpPr/>
          <p:nvPr/>
        </p:nvSpPr>
        <p:spPr>
          <a:xfrm>
            <a:off x="569626" y="2008682"/>
            <a:ext cx="374754" cy="404734"/>
          </a:xfrm>
          <a:prstGeom prst="flowChartConnector">
            <a:avLst/>
          </a:prstGeom>
          <a:solidFill>
            <a:schemeClr val="bg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lowchart: Connector 9"/>
          <p:cNvSpPr/>
          <p:nvPr/>
        </p:nvSpPr>
        <p:spPr>
          <a:xfrm>
            <a:off x="10690485" y="2161082"/>
            <a:ext cx="374754" cy="404734"/>
          </a:xfrm>
          <a:prstGeom prst="flowChartConnector">
            <a:avLst/>
          </a:prstGeom>
          <a:solidFill>
            <a:schemeClr val="bg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lowchart: Connector 10"/>
          <p:cNvSpPr/>
          <p:nvPr/>
        </p:nvSpPr>
        <p:spPr>
          <a:xfrm>
            <a:off x="8649325" y="4991724"/>
            <a:ext cx="1394085" cy="1079291"/>
          </a:xfrm>
          <a:prstGeom prst="flowChartConnector">
            <a:avLst/>
          </a:prstGeom>
          <a:solidFill>
            <a:schemeClr val="bg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BUZZER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 rot="10800000" flipH="1">
            <a:off x="721276" y="2415915"/>
            <a:ext cx="45719" cy="316042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 rot="10800000" flipH="1">
            <a:off x="749508" y="5563098"/>
            <a:ext cx="2458387" cy="4571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 rot="16200000">
            <a:off x="2694108" y="5568377"/>
            <a:ext cx="1078173" cy="6823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 rot="16200000">
            <a:off x="3189124" y="5579636"/>
            <a:ext cx="693764" cy="4571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 rot="16200000" flipV="1">
            <a:off x="3242752" y="5579635"/>
            <a:ext cx="1078173" cy="4571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 rot="16200000">
            <a:off x="3746264" y="5588734"/>
            <a:ext cx="675568" cy="4571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2297733" y="4654345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+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103506" y="4690203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-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8549527" y="4178391"/>
            <a:ext cx="1549495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BUZZER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3" name="Rectangle 22"/>
          <p:cNvSpPr/>
          <p:nvPr/>
        </p:nvSpPr>
        <p:spPr>
          <a:xfrm rot="10800000" flipH="1">
            <a:off x="4124793" y="5546361"/>
            <a:ext cx="4539522" cy="649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 rot="10800000" flipH="1" flipV="1">
            <a:off x="10045908" y="5566345"/>
            <a:ext cx="896912" cy="4571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lowchart: Connector 25"/>
          <p:cNvSpPr/>
          <p:nvPr/>
        </p:nvSpPr>
        <p:spPr>
          <a:xfrm>
            <a:off x="10692984" y="5341495"/>
            <a:ext cx="374754" cy="404734"/>
          </a:xfrm>
          <a:prstGeom prst="flowChartConnector">
            <a:avLst/>
          </a:prstGeom>
          <a:solidFill>
            <a:schemeClr val="bg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3050635" y="4450712"/>
            <a:ext cx="1549495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BATTERY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864763" y="0"/>
            <a:ext cx="81533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Relay and Electromagnetism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35992" y="3646232"/>
            <a:ext cx="693764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926892" y="4087510"/>
            <a:ext cx="675568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07399" y="2494396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+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42647" y="3371000"/>
            <a:ext cx="1078173" cy="6823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79615" y="3850722"/>
            <a:ext cx="1078173" cy="6823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524394" y="4148927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-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1394549" y="2719376"/>
            <a:ext cx="1549495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BATTERY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Flowchart: Process 11"/>
          <p:cNvSpPr/>
          <p:nvPr/>
        </p:nvSpPr>
        <p:spPr>
          <a:xfrm>
            <a:off x="1307901" y="1287887"/>
            <a:ext cx="61696" cy="2116224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lowchart: Process 12"/>
          <p:cNvSpPr/>
          <p:nvPr/>
        </p:nvSpPr>
        <p:spPr>
          <a:xfrm>
            <a:off x="1357339" y="1282469"/>
            <a:ext cx="2004048" cy="52344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Flowchart: Process 13"/>
          <p:cNvSpPr/>
          <p:nvPr/>
        </p:nvSpPr>
        <p:spPr>
          <a:xfrm>
            <a:off x="1287853" y="4110369"/>
            <a:ext cx="61696" cy="2116224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Flowchart: Process 14"/>
          <p:cNvSpPr/>
          <p:nvPr/>
        </p:nvSpPr>
        <p:spPr>
          <a:xfrm flipV="1">
            <a:off x="1300298" y="6207333"/>
            <a:ext cx="4820814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lowchart: Process 15"/>
          <p:cNvSpPr/>
          <p:nvPr/>
        </p:nvSpPr>
        <p:spPr>
          <a:xfrm rot="19870170" flipV="1">
            <a:off x="3266597" y="1084082"/>
            <a:ext cx="896440" cy="57551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/>
          <p:cNvSpPr/>
          <p:nvPr/>
        </p:nvSpPr>
        <p:spPr>
          <a:xfrm>
            <a:off x="3085306" y="1413096"/>
            <a:ext cx="1142365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Switch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8" name="Flowchart: Process 17"/>
          <p:cNvSpPr/>
          <p:nvPr/>
        </p:nvSpPr>
        <p:spPr>
          <a:xfrm>
            <a:off x="4121357" y="1282469"/>
            <a:ext cx="2004048" cy="52344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Flowchart: Process 18"/>
          <p:cNvSpPr/>
          <p:nvPr/>
        </p:nvSpPr>
        <p:spPr>
          <a:xfrm>
            <a:off x="6072295" y="1284166"/>
            <a:ext cx="61696" cy="1210230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Flowchart: Process 19"/>
          <p:cNvSpPr/>
          <p:nvPr/>
        </p:nvSpPr>
        <p:spPr>
          <a:xfrm>
            <a:off x="6072295" y="4795646"/>
            <a:ext cx="61696" cy="145933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791" y="2494396"/>
            <a:ext cx="973227" cy="2301250"/>
          </a:xfrm>
          <a:prstGeom prst="rect">
            <a:avLst/>
          </a:prstGeom>
        </p:spPr>
      </p:pic>
      <p:sp>
        <p:nvSpPr>
          <p:cNvPr id="23" name="Flowchart: Process 22"/>
          <p:cNvSpPr/>
          <p:nvPr/>
        </p:nvSpPr>
        <p:spPr>
          <a:xfrm>
            <a:off x="7095784" y="1282469"/>
            <a:ext cx="2004048" cy="52344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Flowchart: Process 23"/>
          <p:cNvSpPr/>
          <p:nvPr/>
        </p:nvSpPr>
        <p:spPr>
          <a:xfrm>
            <a:off x="7091491" y="1284710"/>
            <a:ext cx="60304" cy="1434666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Flowchart: Process 24"/>
          <p:cNvSpPr/>
          <p:nvPr/>
        </p:nvSpPr>
        <p:spPr>
          <a:xfrm>
            <a:off x="7091491" y="4506835"/>
            <a:ext cx="60304" cy="1723477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Flowchart: Process 25"/>
          <p:cNvSpPr/>
          <p:nvPr/>
        </p:nvSpPr>
        <p:spPr>
          <a:xfrm>
            <a:off x="7091491" y="6226591"/>
            <a:ext cx="2057737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Flowchart: Process 26"/>
          <p:cNvSpPr/>
          <p:nvPr/>
        </p:nvSpPr>
        <p:spPr>
          <a:xfrm flipH="1">
            <a:off x="11732653" y="1282469"/>
            <a:ext cx="45719" cy="4923120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/>
          <p:cNvSpPr/>
          <p:nvPr/>
        </p:nvSpPr>
        <p:spPr>
          <a:xfrm>
            <a:off x="9980383" y="1400503"/>
            <a:ext cx="1371373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LED</a:t>
            </a:r>
            <a:endParaRPr lang="en-US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" name="Isosceles Triangle 28"/>
          <p:cNvSpPr/>
          <p:nvPr/>
        </p:nvSpPr>
        <p:spPr>
          <a:xfrm rot="5400000">
            <a:off x="9177881" y="965738"/>
            <a:ext cx="529681" cy="672326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lowchart: Process 29"/>
          <p:cNvSpPr/>
          <p:nvPr/>
        </p:nvSpPr>
        <p:spPr>
          <a:xfrm rot="5400000">
            <a:off x="9318270" y="1265078"/>
            <a:ext cx="896440" cy="47172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1" name="Straight Arrow Connector 30"/>
          <p:cNvCxnSpPr/>
          <p:nvPr/>
        </p:nvCxnSpPr>
        <p:spPr>
          <a:xfrm>
            <a:off x="9442939" y="1580249"/>
            <a:ext cx="297940" cy="354584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9200362" y="1689720"/>
            <a:ext cx="399124" cy="422405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Flowchart: Process 32"/>
          <p:cNvSpPr/>
          <p:nvPr/>
        </p:nvSpPr>
        <p:spPr>
          <a:xfrm>
            <a:off x="9774324" y="1279303"/>
            <a:ext cx="2004048" cy="52344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/>
          <p:cNvSpPr/>
          <p:nvPr/>
        </p:nvSpPr>
        <p:spPr>
          <a:xfrm rot="16200000">
            <a:off x="8621356" y="3648373"/>
            <a:ext cx="1078173" cy="6823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 rot="16200000">
            <a:off x="9116372" y="3659632"/>
            <a:ext cx="693764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 rot="16200000" flipV="1">
            <a:off x="9170000" y="3659631"/>
            <a:ext cx="1078173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 rot="16200000">
            <a:off x="9673512" y="3668730"/>
            <a:ext cx="675568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8224981" y="2760099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+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9968344" y="2651287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-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8786061" y="2577328"/>
            <a:ext cx="1549495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BATTERY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1" name="Flowchart: Process 40"/>
          <p:cNvSpPr/>
          <p:nvPr/>
        </p:nvSpPr>
        <p:spPr>
          <a:xfrm>
            <a:off x="7685520" y="3633190"/>
            <a:ext cx="1463708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Flowchart: Process 41"/>
          <p:cNvSpPr/>
          <p:nvPr/>
        </p:nvSpPr>
        <p:spPr>
          <a:xfrm>
            <a:off x="9992584" y="3623066"/>
            <a:ext cx="1740069" cy="52344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Flowchart: Connector 42"/>
          <p:cNvSpPr/>
          <p:nvPr/>
        </p:nvSpPr>
        <p:spPr>
          <a:xfrm>
            <a:off x="7012028" y="2704238"/>
            <a:ext cx="212442" cy="240440"/>
          </a:xfrm>
          <a:prstGeom prst="flowChartConnector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Flowchart: Connector 43"/>
          <p:cNvSpPr/>
          <p:nvPr/>
        </p:nvSpPr>
        <p:spPr>
          <a:xfrm>
            <a:off x="7603561" y="3526012"/>
            <a:ext cx="212442" cy="240440"/>
          </a:xfrm>
          <a:prstGeom prst="flowChartConnector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Flowchart: Connector 44"/>
          <p:cNvSpPr/>
          <p:nvPr/>
        </p:nvSpPr>
        <p:spPr>
          <a:xfrm>
            <a:off x="7012563" y="4266395"/>
            <a:ext cx="212442" cy="240440"/>
          </a:xfrm>
          <a:prstGeom prst="flowChartConnector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lowchart: Process 45"/>
          <p:cNvSpPr/>
          <p:nvPr/>
        </p:nvSpPr>
        <p:spPr>
          <a:xfrm rot="18978850">
            <a:off x="6738988" y="4010584"/>
            <a:ext cx="1126525" cy="54010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7" name="Rectangle 46"/>
          <p:cNvSpPr/>
          <p:nvPr/>
        </p:nvSpPr>
        <p:spPr>
          <a:xfrm>
            <a:off x="8052161" y="5507598"/>
            <a:ext cx="1371373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LED</a:t>
            </a:r>
            <a:endParaRPr lang="en-US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8" name="Isosceles Triangle 47"/>
          <p:cNvSpPr/>
          <p:nvPr/>
        </p:nvSpPr>
        <p:spPr>
          <a:xfrm rot="5400000">
            <a:off x="9201491" y="5896207"/>
            <a:ext cx="529681" cy="672326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lowchart: Process 48"/>
          <p:cNvSpPr/>
          <p:nvPr/>
        </p:nvSpPr>
        <p:spPr>
          <a:xfrm rot="5400000">
            <a:off x="9341880" y="6195547"/>
            <a:ext cx="896440" cy="47172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50" name="Straight Arrow Connector 49"/>
          <p:cNvCxnSpPr/>
          <p:nvPr/>
        </p:nvCxnSpPr>
        <p:spPr>
          <a:xfrm flipV="1">
            <a:off x="9274199" y="5415594"/>
            <a:ext cx="402561" cy="34540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 flipV="1">
            <a:off x="9400439" y="5549812"/>
            <a:ext cx="443325" cy="376732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Flowchart: Process 55"/>
          <p:cNvSpPr/>
          <p:nvPr/>
        </p:nvSpPr>
        <p:spPr>
          <a:xfrm>
            <a:off x="9814989" y="6186270"/>
            <a:ext cx="1963383" cy="61533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Bent Arrow 56"/>
          <p:cNvSpPr/>
          <p:nvPr/>
        </p:nvSpPr>
        <p:spPr>
          <a:xfrm>
            <a:off x="1578305" y="1504425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8" name="Bent Arrow 57"/>
          <p:cNvSpPr/>
          <p:nvPr/>
        </p:nvSpPr>
        <p:spPr>
          <a:xfrm rot="5400000">
            <a:off x="4875650" y="1586101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9" name="Bent Arrow 58"/>
          <p:cNvSpPr/>
          <p:nvPr/>
        </p:nvSpPr>
        <p:spPr>
          <a:xfrm rot="10800000">
            <a:off x="4848905" y="5171490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0" name="Bent Arrow 59"/>
          <p:cNvSpPr/>
          <p:nvPr/>
        </p:nvSpPr>
        <p:spPr>
          <a:xfrm rot="16200000">
            <a:off x="1365077" y="5110575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1" name="Bent Arrow 60"/>
          <p:cNvSpPr/>
          <p:nvPr/>
        </p:nvSpPr>
        <p:spPr>
          <a:xfrm>
            <a:off x="7342102" y="1449998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2" name="Bent Arrow 61"/>
          <p:cNvSpPr/>
          <p:nvPr/>
        </p:nvSpPr>
        <p:spPr>
          <a:xfrm rot="10800000">
            <a:off x="10517339" y="2651287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3" name="Bent Arrow 62"/>
          <p:cNvSpPr/>
          <p:nvPr/>
        </p:nvSpPr>
        <p:spPr>
          <a:xfrm rot="5400000">
            <a:off x="10645358" y="3948982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4" name="Bent Arrow 63"/>
          <p:cNvSpPr/>
          <p:nvPr/>
        </p:nvSpPr>
        <p:spPr>
          <a:xfrm rot="16200000">
            <a:off x="7164858" y="5133070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2771016" y="3564290"/>
            <a:ext cx="1983813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Trigger Loop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8551718" y="2186058"/>
            <a:ext cx="1964000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Normal Open Loop</a:t>
            </a:r>
            <a:endParaRPr lang="en-US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8411993" y="4789844"/>
            <a:ext cx="2466444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Normal Connected Loop</a:t>
            </a:r>
            <a:endParaRPr lang="en-US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="" xmlns:p14="http://schemas.microsoft.com/office/powerpoint/2010/main" val="10364466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458979" y="0"/>
            <a:ext cx="896495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Application of Relay as a switch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935992" y="3646232"/>
            <a:ext cx="693764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926892" y="4087510"/>
            <a:ext cx="675568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07399" y="2494396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+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42647" y="3371000"/>
            <a:ext cx="1078173" cy="6823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79615" y="3850722"/>
            <a:ext cx="1078173" cy="6823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524394" y="4148927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-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1394549" y="2719376"/>
            <a:ext cx="1549495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BATTERY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Flowchart: Process 11"/>
          <p:cNvSpPr/>
          <p:nvPr/>
        </p:nvSpPr>
        <p:spPr>
          <a:xfrm>
            <a:off x="1307901" y="1287887"/>
            <a:ext cx="61696" cy="2116224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lowchart: Process 12"/>
          <p:cNvSpPr/>
          <p:nvPr/>
        </p:nvSpPr>
        <p:spPr>
          <a:xfrm>
            <a:off x="1357339" y="1282469"/>
            <a:ext cx="2004048" cy="52344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Flowchart: Process 13"/>
          <p:cNvSpPr/>
          <p:nvPr/>
        </p:nvSpPr>
        <p:spPr>
          <a:xfrm>
            <a:off x="1287853" y="4110369"/>
            <a:ext cx="61696" cy="2116224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Flowchart: Process 14"/>
          <p:cNvSpPr/>
          <p:nvPr/>
        </p:nvSpPr>
        <p:spPr>
          <a:xfrm flipV="1">
            <a:off x="1300298" y="6207333"/>
            <a:ext cx="4820814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lowchart: Process 15"/>
          <p:cNvSpPr/>
          <p:nvPr/>
        </p:nvSpPr>
        <p:spPr>
          <a:xfrm rot="19870170" flipV="1">
            <a:off x="3266597" y="1084082"/>
            <a:ext cx="896440" cy="57551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/>
          <p:cNvSpPr/>
          <p:nvPr/>
        </p:nvSpPr>
        <p:spPr>
          <a:xfrm>
            <a:off x="3085306" y="1413096"/>
            <a:ext cx="1142365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Switch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8" name="Flowchart: Process 17"/>
          <p:cNvSpPr/>
          <p:nvPr/>
        </p:nvSpPr>
        <p:spPr>
          <a:xfrm>
            <a:off x="4121357" y="1282469"/>
            <a:ext cx="2004048" cy="52344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Flowchart: Process 18"/>
          <p:cNvSpPr/>
          <p:nvPr/>
        </p:nvSpPr>
        <p:spPr>
          <a:xfrm>
            <a:off x="6072295" y="1284166"/>
            <a:ext cx="61696" cy="1210230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Flowchart: Process 19"/>
          <p:cNvSpPr/>
          <p:nvPr/>
        </p:nvSpPr>
        <p:spPr>
          <a:xfrm>
            <a:off x="6072295" y="4795646"/>
            <a:ext cx="61696" cy="145933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791" y="2494396"/>
            <a:ext cx="973227" cy="2301250"/>
          </a:xfrm>
          <a:prstGeom prst="rect">
            <a:avLst/>
          </a:prstGeom>
        </p:spPr>
      </p:pic>
      <p:sp>
        <p:nvSpPr>
          <p:cNvPr id="23" name="Flowchart: Process 22"/>
          <p:cNvSpPr/>
          <p:nvPr/>
        </p:nvSpPr>
        <p:spPr>
          <a:xfrm>
            <a:off x="7095784" y="1282469"/>
            <a:ext cx="2004048" cy="52344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Flowchart: Process 23"/>
          <p:cNvSpPr/>
          <p:nvPr/>
        </p:nvSpPr>
        <p:spPr>
          <a:xfrm>
            <a:off x="7091491" y="1284710"/>
            <a:ext cx="60304" cy="1434666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Flowchart: Process 24"/>
          <p:cNvSpPr/>
          <p:nvPr/>
        </p:nvSpPr>
        <p:spPr>
          <a:xfrm>
            <a:off x="7091491" y="4506835"/>
            <a:ext cx="60304" cy="1723477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Flowchart: Process 25"/>
          <p:cNvSpPr/>
          <p:nvPr/>
        </p:nvSpPr>
        <p:spPr>
          <a:xfrm>
            <a:off x="7091491" y="6226591"/>
            <a:ext cx="2057737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Flowchart: Process 26"/>
          <p:cNvSpPr/>
          <p:nvPr/>
        </p:nvSpPr>
        <p:spPr>
          <a:xfrm flipH="1">
            <a:off x="11732653" y="1282469"/>
            <a:ext cx="45719" cy="4923120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/>
          <p:cNvSpPr/>
          <p:nvPr/>
        </p:nvSpPr>
        <p:spPr>
          <a:xfrm>
            <a:off x="9980383" y="1400503"/>
            <a:ext cx="1371373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LED</a:t>
            </a:r>
            <a:endParaRPr lang="en-US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" name="Isosceles Triangle 28"/>
          <p:cNvSpPr/>
          <p:nvPr/>
        </p:nvSpPr>
        <p:spPr>
          <a:xfrm rot="5400000">
            <a:off x="9177881" y="965738"/>
            <a:ext cx="529681" cy="672326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lowchart: Process 29"/>
          <p:cNvSpPr/>
          <p:nvPr/>
        </p:nvSpPr>
        <p:spPr>
          <a:xfrm rot="5400000">
            <a:off x="9318270" y="1265078"/>
            <a:ext cx="896440" cy="47172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1" name="Straight Arrow Connector 30"/>
          <p:cNvCxnSpPr/>
          <p:nvPr/>
        </p:nvCxnSpPr>
        <p:spPr>
          <a:xfrm>
            <a:off x="9442939" y="1580249"/>
            <a:ext cx="297940" cy="354584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9200362" y="1689720"/>
            <a:ext cx="399124" cy="422405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Flowchart: Process 32"/>
          <p:cNvSpPr/>
          <p:nvPr/>
        </p:nvSpPr>
        <p:spPr>
          <a:xfrm>
            <a:off x="9774324" y="1279303"/>
            <a:ext cx="2004048" cy="52344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/>
          <p:cNvSpPr/>
          <p:nvPr/>
        </p:nvSpPr>
        <p:spPr>
          <a:xfrm rot="16200000">
            <a:off x="8621356" y="3648373"/>
            <a:ext cx="1078173" cy="6823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 rot="16200000">
            <a:off x="9116372" y="3659632"/>
            <a:ext cx="693764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 rot="16200000" flipV="1">
            <a:off x="9170000" y="3659631"/>
            <a:ext cx="1078173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 rot="16200000">
            <a:off x="9673512" y="3668730"/>
            <a:ext cx="675568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8224981" y="2760099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+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9968344" y="2651287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-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8786061" y="2577328"/>
            <a:ext cx="1549495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BATTERY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1" name="Flowchart: Process 40"/>
          <p:cNvSpPr/>
          <p:nvPr/>
        </p:nvSpPr>
        <p:spPr>
          <a:xfrm>
            <a:off x="7685520" y="3633190"/>
            <a:ext cx="1463708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Flowchart: Process 41"/>
          <p:cNvSpPr/>
          <p:nvPr/>
        </p:nvSpPr>
        <p:spPr>
          <a:xfrm>
            <a:off x="9992584" y="3623066"/>
            <a:ext cx="1740069" cy="52344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Flowchart: Connector 42"/>
          <p:cNvSpPr/>
          <p:nvPr/>
        </p:nvSpPr>
        <p:spPr>
          <a:xfrm>
            <a:off x="7012028" y="2704238"/>
            <a:ext cx="212442" cy="240440"/>
          </a:xfrm>
          <a:prstGeom prst="flowChartConnector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Flowchart: Connector 43"/>
          <p:cNvSpPr/>
          <p:nvPr/>
        </p:nvSpPr>
        <p:spPr>
          <a:xfrm>
            <a:off x="7603561" y="3526012"/>
            <a:ext cx="212442" cy="240440"/>
          </a:xfrm>
          <a:prstGeom prst="flowChartConnector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Flowchart: Connector 44"/>
          <p:cNvSpPr/>
          <p:nvPr/>
        </p:nvSpPr>
        <p:spPr>
          <a:xfrm>
            <a:off x="7012563" y="4266395"/>
            <a:ext cx="212442" cy="240440"/>
          </a:xfrm>
          <a:prstGeom prst="flowChartConnector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lowchart: Process 45"/>
          <p:cNvSpPr/>
          <p:nvPr/>
        </p:nvSpPr>
        <p:spPr>
          <a:xfrm rot="18978850">
            <a:off x="6738988" y="4010584"/>
            <a:ext cx="1126525" cy="54010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7" name="Rectangle 46"/>
          <p:cNvSpPr/>
          <p:nvPr/>
        </p:nvSpPr>
        <p:spPr>
          <a:xfrm>
            <a:off x="8052161" y="5507598"/>
            <a:ext cx="1371373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LED</a:t>
            </a:r>
            <a:endParaRPr lang="en-US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8" name="Isosceles Triangle 47"/>
          <p:cNvSpPr/>
          <p:nvPr/>
        </p:nvSpPr>
        <p:spPr>
          <a:xfrm rot="5400000">
            <a:off x="9201491" y="5896207"/>
            <a:ext cx="529681" cy="672326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lowchart: Process 48"/>
          <p:cNvSpPr/>
          <p:nvPr/>
        </p:nvSpPr>
        <p:spPr>
          <a:xfrm rot="5400000">
            <a:off x="9341880" y="6195547"/>
            <a:ext cx="896440" cy="47172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50" name="Straight Arrow Connector 49"/>
          <p:cNvCxnSpPr/>
          <p:nvPr/>
        </p:nvCxnSpPr>
        <p:spPr>
          <a:xfrm flipV="1">
            <a:off x="9274199" y="5415594"/>
            <a:ext cx="402561" cy="34540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 flipV="1">
            <a:off x="9400439" y="5549812"/>
            <a:ext cx="443325" cy="376732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Flowchart: Process 55"/>
          <p:cNvSpPr/>
          <p:nvPr/>
        </p:nvSpPr>
        <p:spPr>
          <a:xfrm>
            <a:off x="9814989" y="6186270"/>
            <a:ext cx="1963383" cy="61533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Bent Arrow 56"/>
          <p:cNvSpPr/>
          <p:nvPr/>
        </p:nvSpPr>
        <p:spPr>
          <a:xfrm>
            <a:off x="1578305" y="1504425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8" name="Bent Arrow 57"/>
          <p:cNvSpPr/>
          <p:nvPr/>
        </p:nvSpPr>
        <p:spPr>
          <a:xfrm rot="5400000">
            <a:off x="4875650" y="1586101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9" name="Bent Arrow 58"/>
          <p:cNvSpPr/>
          <p:nvPr/>
        </p:nvSpPr>
        <p:spPr>
          <a:xfrm rot="10800000">
            <a:off x="4848905" y="5171490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0" name="Bent Arrow 59"/>
          <p:cNvSpPr/>
          <p:nvPr/>
        </p:nvSpPr>
        <p:spPr>
          <a:xfrm rot="16200000">
            <a:off x="1365077" y="5110575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1" name="Bent Arrow 60"/>
          <p:cNvSpPr/>
          <p:nvPr/>
        </p:nvSpPr>
        <p:spPr>
          <a:xfrm>
            <a:off x="7342102" y="1449998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2" name="Bent Arrow 61"/>
          <p:cNvSpPr/>
          <p:nvPr/>
        </p:nvSpPr>
        <p:spPr>
          <a:xfrm rot="10800000">
            <a:off x="10517339" y="2651287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3" name="Bent Arrow 62"/>
          <p:cNvSpPr/>
          <p:nvPr/>
        </p:nvSpPr>
        <p:spPr>
          <a:xfrm rot="5400000">
            <a:off x="10645358" y="3948982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4" name="Bent Arrow 63"/>
          <p:cNvSpPr/>
          <p:nvPr/>
        </p:nvSpPr>
        <p:spPr>
          <a:xfrm rot="16200000">
            <a:off x="7164858" y="5133070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2771016" y="3564290"/>
            <a:ext cx="1983813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Trigger Loop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8551718" y="2186058"/>
            <a:ext cx="1964000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Normal Open Loop</a:t>
            </a:r>
            <a:endParaRPr lang="en-US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8411993" y="4789844"/>
            <a:ext cx="2466444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Normal Connected Loop</a:t>
            </a:r>
            <a:endParaRPr lang="en-US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="" xmlns:p14="http://schemas.microsoft.com/office/powerpoint/2010/main" val="13198283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lowchart: Process 7"/>
          <p:cNvSpPr/>
          <p:nvPr/>
        </p:nvSpPr>
        <p:spPr>
          <a:xfrm rot="2657463" flipV="1">
            <a:off x="8273773" y="5855835"/>
            <a:ext cx="523897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Flowchart: Process 8"/>
          <p:cNvSpPr/>
          <p:nvPr/>
        </p:nvSpPr>
        <p:spPr>
          <a:xfrm rot="2657463" flipV="1">
            <a:off x="8065562" y="5879445"/>
            <a:ext cx="523897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lowchart: Process 9"/>
          <p:cNvSpPr/>
          <p:nvPr/>
        </p:nvSpPr>
        <p:spPr>
          <a:xfrm rot="2657463" flipV="1">
            <a:off x="7828204" y="5879445"/>
            <a:ext cx="523897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Flowchart: Process 10"/>
          <p:cNvSpPr/>
          <p:nvPr/>
        </p:nvSpPr>
        <p:spPr>
          <a:xfrm rot="2657463" flipV="1">
            <a:off x="7550411" y="5866566"/>
            <a:ext cx="523897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Flowchart: Process 11"/>
          <p:cNvSpPr/>
          <p:nvPr/>
        </p:nvSpPr>
        <p:spPr>
          <a:xfrm rot="2657463" flipV="1">
            <a:off x="7267072" y="5879445"/>
            <a:ext cx="523897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lowchart: Process 12"/>
          <p:cNvSpPr/>
          <p:nvPr/>
        </p:nvSpPr>
        <p:spPr>
          <a:xfrm rot="2657463" flipV="1">
            <a:off x="6983739" y="5866566"/>
            <a:ext cx="523897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Flowchart: Process 13"/>
          <p:cNvSpPr/>
          <p:nvPr/>
        </p:nvSpPr>
        <p:spPr>
          <a:xfrm rot="2657463" flipV="1">
            <a:off x="6687528" y="5866566"/>
            <a:ext cx="523897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Flowchart: Process 14"/>
          <p:cNvSpPr/>
          <p:nvPr/>
        </p:nvSpPr>
        <p:spPr>
          <a:xfrm rot="2657463" flipV="1">
            <a:off x="6417068" y="5866566"/>
            <a:ext cx="523897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lowchart: Process 15"/>
          <p:cNvSpPr/>
          <p:nvPr/>
        </p:nvSpPr>
        <p:spPr>
          <a:xfrm rot="2657463" flipV="1">
            <a:off x="6146611" y="5879445"/>
            <a:ext cx="523897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lowchart: Process 16"/>
          <p:cNvSpPr/>
          <p:nvPr/>
        </p:nvSpPr>
        <p:spPr>
          <a:xfrm rot="2657463" flipV="1">
            <a:off x="5837520" y="5866566"/>
            <a:ext cx="523897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lowchart: Process 17"/>
          <p:cNvSpPr/>
          <p:nvPr/>
        </p:nvSpPr>
        <p:spPr>
          <a:xfrm rot="2657463" flipV="1">
            <a:off x="5618577" y="5879445"/>
            <a:ext cx="523897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Flowchart: Process 18"/>
          <p:cNvSpPr/>
          <p:nvPr/>
        </p:nvSpPr>
        <p:spPr>
          <a:xfrm rot="2657463" flipV="1">
            <a:off x="5360997" y="5866566"/>
            <a:ext cx="523897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Flowchart: Process 19"/>
          <p:cNvSpPr/>
          <p:nvPr/>
        </p:nvSpPr>
        <p:spPr>
          <a:xfrm rot="2657463" flipV="1">
            <a:off x="5142057" y="5879445"/>
            <a:ext cx="523897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Flowchart: Process 20"/>
          <p:cNvSpPr/>
          <p:nvPr/>
        </p:nvSpPr>
        <p:spPr>
          <a:xfrm rot="2657463" flipV="1">
            <a:off x="4884480" y="5879445"/>
            <a:ext cx="523897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Flowchart: Process 21"/>
          <p:cNvSpPr/>
          <p:nvPr/>
        </p:nvSpPr>
        <p:spPr>
          <a:xfrm rot="2657463" flipV="1">
            <a:off x="4588264" y="5879445"/>
            <a:ext cx="523897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Flowchart: Process 22"/>
          <p:cNvSpPr/>
          <p:nvPr/>
        </p:nvSpPr>
        <p:spPr>
          <a:xfrm rot="2657463" flipV="1">
            <a:off x="4317807" y="5892324"/>
            <a:ext cx="523897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Flowchart: Process 23"/>
          <p:cNvSpPr/>
          <p:nvPr/>
        </p:nvSpPr>
        <p:spPr>
          <a:xfrm rot="2657463" flipV="1">
            <a:off x="4008715" y="5879445"/>
            <a:ext cx="523897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Flowchart: Process 24"/>
          <p:cNvSpPr/>
          <p:nvPr/>
        </p:nvSpPr>
        <p:spPr>
          <a:xfrm rot="2657463" flipV="1">
            <a:off x="3751135" y="5892324"/>
            <a:ext cx="523897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Flowchart: Process 25"/>
          <p:cNvSpPr/>
          <p:nvPr/>
        </p:nvSpPr>
        <p:spPr>
          <a:xfrm rot="2657463" flipV="1">
            <a:off x="3519317" y="5892324"/>
            <a:ext cx="523897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lowchart: Process 6"/>
          <p:cNvSpPr/>
          <p:nvPr/>
        </p:nvSpPr>
        <p:spPr>
          <a:xfrm flipV="1">
            <a:off x="3554101" y="5666419"/>
            <a:ext cx="4820814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7" name="Straight Connector 26"/>
          <p:cNvCxnSpPr/>
          <p:nvPr/>
        </p:nvCxnSpPr>
        <p:spPr>
          <a:xfrm flipH="1">
            <a:off x="6079391" y="1690688"/>
            <a:ext cx="16609" cy="4015819"/>
          </a:xfrm>
          <a:prstGeom prst="line">
            <a:avLst/>
          </a:prstGeom>
          <a:ln w="381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3498460" y="2080955"/>
            <a:ext cx="2560366" cy="356716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/>
          <p:nvPr/>
        </p:nvCxnSpPr>
        <p:spPr>
          <a:xfrm flipH="1">
            <a:off x="6110342" y="2176530"/>
            <a:ext cx="2763202" cy="34790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1" name="Isosceles Triangle 2050"/>
          <p:cNvSpPr/>
          <p:nvPr/>
        </p:nvSpPr>
        <p:spPr>
          <a:xfrm rot="8435423">
            <a:off x="3806511" y="2771266"/>
            <a:ext cx="637205" cy="405172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Isosceles Triangle 36"/>
          <p:cNvSpPr/>
          <p:nvPr/>
        </p:nvSpPr>
        <p:spPr>
          <a:xfrm rot="2328234">
            <a:off x="7916435" y="2771463"/>
            <a:ext cx="637205" cy="405172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53" name="Block Arc 2052"/>
          <p:cNvSpPr/>
          <p:nvPr/>
        </p:nvSpPr>
        <p:spPr>
          <a:xfrm rot="20454195">
            <a:off x="5047279" y="3907285"/>
            <a:ext cx="1102396" cy="476518"/>
          </a:xfrm>
          <a:prstGeom prst="blockArc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Block Arc 40"/>
          <p:cNvSpPr/>
          <p:nvPr/>
        </p:nvSpPr>
        <p:spPr>
          <a:xfrm rot="1318607">
            <a:off x="6060828" y="3934660"/>
            <a:ext cx="1102396" cy="476518"/>
          </a:xfrm>
          <a:prstGeom prst="blockArc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54" name="Rectangle 2053"/>
          <p:cNvSpPr/>
          <p:nvPr/>
        </p:nvSpPr>
        <p:spPr>
          <a:xfrm>
            <a:off x="5086018" y="3083266"/>
            <a:ext cx="34336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564435" y="3083266"/>
            <a:ext cx="42672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1637430" y="5703022"/>
            <a:ext cx="201536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</a:t>
            </a:r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irror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705084" y="3628247"/>
            <a:ext cx="3491918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Incident ray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8051408" y="3551470"/>
            <a:ext cx="384772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Reflected</a:t>
            </a:r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ray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057" name="Rectangle 2056"/>
          <p:cNvSpPr/>
          <p:nvPr/>
        </p:nvSpPr>
        <p:spPr>
          <a:xfrm>
            <a:off x="3441550" y="-17225"/>
            <a:ext cx="502195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dirty="0" smtClean="0"/>
              <a:t>Law of Reflection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5293217" y="1043190"/>
            <a:ext cx="1464067" cy="58030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2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Normal</a:t>
            </a:r>
            <a:endParaRPr lang="en-US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6965323" y="4878952"/>
            <a:ext cx="1464067" cy="58030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2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&lt;</a:t>
            </a:r>
            <a:r>
              <a:rPr lang="en-US" sz="3200" b="0" cap="none" spc="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</a:t>
            </a:r>
            <a:r>
              <a:rPr lang="en-US" sz="32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= &lt;r</a:t>
            </a:r>
            <a:endParaRPr lang="en-US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="" xmlns:p14="http://schemas.microsoft.com/office/powerpoint/2010/main" val="33388684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lowchart: Connector 10"/>
          <p:cNvSpPr/>
          <p:nvPr/>
        </p:nvSpPr>
        <p:spPr>
          <a:xfrm>
            <a:off x="6457070" y="3488785"/>
            <a:ext cx="2926080" cy="2729132"/>
          </a:xfrm>
          <a:prstGeom prst="flowChartConnector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052406" y="0"/>
            <a:ext cx="569329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dirty="0"/>
              <a:t>Transistor as Switch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6" name="Straight Connector 5"/>
          <p:cNvCxnSpPr/>
          <p:nvPr/>
        </p:nvCxnSpPr>
        <p:spPr>
          <a:xfrm>
            <a:off x="7230794" y="4079629"/>
            <a:ext cx="0" cy="142083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 flipH="1">
            <a:off x="7244861" y="3812342"/>
            <a:ext cx="1252025" cy="70338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8764606" y="711043"/>
            <a:ext cx="750526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+9V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3" name="Isosceles Triangle 12"/>
          <p:cNvSpPr/>
          <p:nvPr/>
        </p:nvSpPr>
        <p:spPr>
          <a:xfrm rot="10800000">
            <a:off x="8218857" y="1906703"/>
            <a:ext cx="529681" cy="67232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/>
          <p:cNvSpPr/>
          <p:nvPr/>
        </p:nvSpPr>
        <p:spPr>
          <a:xfrm rot="10800000">
            <a:off x="8218858" y="1906703"/>
            <a:ext cx="529681" cy="67232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Isosceles Triangle 16"/>
          <p:cNvSpPr/>
          <p:nvPr/>
        </p:nvSpPr>
        <p:spPr>
          <a:xfrm rot="10800000">
            <a:off x="8231738" y="1906703"/>
            <a:ext cx="529681" cy="672326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lowchart: Process 17"/>
          <p:cNvSpPr/>
          <p:nvPr/>
        </p:nvSpPr>
        <p:spPr>
          <a:xfrm rot="10800000">
            <a:off x="8037271" y="2501122"/>
            <a:ext cx="896440" cy="47172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9" name="Straight Arrow Connector 18"/>
          <p:cNvCxnSpPr/>
          <p:nvPr/>
        </p:nvCxnSpPr>
        <p:spPr>
          <a:xfrm>
            <a:off x="8965168" y="2115817"/>
            <a:ext cx="329786" cy="329785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 rot="5400000" flipV="1">
            <a:off x="8768334" y="2176587"/>
            <a:ext cx="347276" cy="332284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V="1">
            <a:off x="8496886" y="2579029"/>
            <a:ext cx="0" cy="123331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 flipV="1">
            <a:off x="8480471" y="1210791"/>
            <a:ext cx="5020" cy="70445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Flowchart: Process 24"/>
          <p:cNvSpPr/>
          <p:nvPr/>
        </p:nvSpPr>
        <p:spPr>
          <a:xfrm flipV="1">
            <a:off x="3229195" y="6541472"/>
            <a:ext cx="5735973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Flowchart: Process 25"/>
          <p:cNvSpPr/>
          <p:nvPr/>
        </p:nvSpPr>
        <p:spPr>
          <a:xfrm>
            <a:off x="3277772" y="1197660"/>
            <a:ext cx="5687396" cy="57701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7" name="Straight Connector 26"/>
          <p:cNvCxnSpPr/>
          <p:nvPr/>
        </p:nvCxnSpPr>
        <p:spPr>
          <a:xfrm flipH="1" flipV="1">
            <a:off x="8351520" y="5711483"/>
            <a:ext cx="5022" cy="8829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7244861" y="5064369"/>
            <a:ext cx="1120727" cy="66118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7132570">
            <a:off x="7723168" y="5271955"/>
            <a:ext cx="464234" cy="436101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2877334" y="5573509"/>
            <a:ext cx="693764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2868234" y="6014787"/>
            <a:ext cx="675568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2648741" y="4421673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+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2683989" y="5298277"/>
            <a:ext cx="1078173" cy="6823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2720957" y="5777999"/>
            <a:ext cx="1078173" cy="6823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2465736" y="6076204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-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8" name="Flowchart: Process 47"/>
          <p:cNvSpPr/>
          <p:nvPr/>
        </p:nvSpPr>
        <p:spPr>
          <a:xfrm>
            <a:off x="3249243" y="1189413"/>
            <a:ext cx="61696" cy="2116224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" name="Flowchart: Process 48"/>
          <p:cNvSpPr/>
          <p:nvPr/>
        </p:nvSpPr>
        <p:spPr>
          <a:xfrm>
            <a:off x="3256429" y="2814840"/>
            <a:ext cx="45719" cy="2529577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51" name="Straight Connector 50"/>
          <p:cNvCxnSpPr>
            <a:stCxn id="25" idx="1"/>
            <a:endCxn id="43" idx="0"/>
          </p:cNvCxnSpPr>
          <p:nvPr/>
        </p:nvCxnSpPr>
        <p:spPr>
          <a:xfrm flipH="1" flipV="1">
            <a:off x="3206018" y="6014787"/>
            <a:ext cx="23177" cy="54954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Flowchart: Process 54"/>
          <p:cNvSpPr/>
          <p:nvPr/>
        </p:nvSpPr>
        <p:spPr>
          <a:xfrm>
            <a:off x="3302148" y="4756325"/>
            <a:ext cx="1525439" cy="58536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6" name="Flowchart: Process 55"/>
          <p:cNvSpPr/>
          <p:nvPr/>
        </p:nvSpPr>
        <p:spPr>
          <a:xfrm rot="19870170" flipV="1">
            <a:off x="4785907" y="4544735"/>
            <a:ext cx="896440" cy="57551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Rectangle 56"/>
          <p:cNvSpPr/>
          <p:nvPr/>
        </p:nvSpPr>
        <p:spPr>
          <a:xfrm>
            <a:off x="4604616" y="4873749"/>
            <a:ext cx="1142365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Switch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8" name="Flowchart: Process 57"/>
          <p:cNvSpPr/>
          <p:nvPr/>
        </p:nvSpPr>
        <p:spPr>
          <a:xfrm>
            <a:off x="5664118" y="4764061"/>
            <a:ext cx="1525439" cy="58536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Rectangle 58"/>
          <p:cNvSpPr/>
          <p:nvPr/>
        </p:nvSpPr>
        <p:spPr>
          <a:xfrm>
            <a:off x="967766" y="5418104"/>
            <a:ext cx="1549495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BATTERY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0" name="Down Arrow 59"/>
          <p:cNvSpPr/>
          <p:nvPr/>
        </p:nvSpPr>
        <p:spPr>
          <a:xfrm>
            <a:off x="7454099" y="1454027"/>
            <a:ext cx="396332" cy="1711202"/>
          </a:xfrm>
          <a:prstGeom prst="down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9447354" y="1960508"/>
            <a:ext cx="731289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LED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8860099" y="6026291"/>
            <a:ext cx="864340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GND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="" xmlns:p14="http://schemas.microsoft.com/office/powerpoint/2010/main" val="28810631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313833" y="0"/>
            <a:ext cx="67122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Kirchhoff’s Voltage Law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Rectangle 4"/>
          <p:cNvSpPr/>
          <p:nvPr/>
        </p:nvSpPr>
        <p:spPr>
          <a:xfrm rot="16200000">
            <a:off x="4641488" y="5683234"/>
            <a:ext cx="1078173" cy="6823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 rot="16200000">
            <a:off x="5136504" y="5694493"/>
            <a:ext cx="693764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 rot="16200000" flipV="1">
            <a:off x="5190132" y="5694492"/>
            <a:ext cx="1078173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 rot="16200000">
            <a:off x="5693644" y="5703591"/>
            <a:ext cx="675568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245113" y="4769202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+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488521" y="4794021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-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845615" y="4413169"/>
            <a:ext cx="1549495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BATTERY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Flowchart: Process 11"/>
          <p:cNvSpPr/>
          <p:nvPr/>
        </p:nvSpPr>
        <p:spPr>
          <a:xfrm flipV="1">
            <a:off x="1675644" y="5692531"/>
            <a:ext cx="3470812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lowchart: Process 12"/>
          <p:cNvSpPr/>
          <p:nvPr/>
        </p:nvSpPr>
        <p:spPr>
          <a:xfrm flipV="1">
            <a:off x="6026801" y="5692532"/>
            <a:ext cx="3812370" cy="49638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Flowchart: Process 13"/>
          <p:cNvSpPr/>
          <p:nvPr/>
        </p:nvSpPr>
        <p:spPr>
          <a:xfrm>
            <a:off x="9793452" y="1570641"/>
            <a:ext cx="45719" cy="1674835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Flowchart: Process 14"/>
          <p:cNvSpPr/>
          <p:nvPr/>
        </p:nvSpPr>
        <p:spPr>
          <a:xfrm flipH="1">
            <a:off x="1630783" y="1596690"/>
            <a:ext cx="77699" cy="4138496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lowchart: Process 16"/>
          <p:cNvSpPr/>
          <p:nvPr/>
        </p:nvSpPr>
        <p:spPr>
          <a:xfrm>
            <a:off x="1630782" y="1570642"/>
            <a:ext cx="1924087" cy="51806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lowchart: Process 17"/>
          <p:cNvSpPr/>
          <p:nvPr/>
        </p:nvSpPr>
        <p:spPr>
          <a:xfrm>
            <a:off x="4921779" y="1559910"/>
            <a:ext cx="1473331" cy="45719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Flowchart: Process 18"/>
          <p:cNvSpPr/>
          <p:nvPr/>
        </p:nvSpPr>
        <p:spPr>
          <a:xfrm>
            <a:off x="7762020" y="1589557"/>
            <a:ext cx="2031432" cy="51018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/>
          <p:cNvSpPr/>
          <p:nvPr/>
        </p:nvSpPr>
        <p:spPr>
          <a:xfrm>
            <a:off x="6434388" y="1911622"/>
            <a:ext cx="1479892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330 ohm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554869" y="1996727"/>
            <a:ext cx="1479892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470 ohm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8" name="Bent Arrow 37"/>
          <p:cNvSpPr/>
          <p:nvPr/>
        </p:nvSpPr>
        <p:spPr>
          <a:xfrm>
            <a:off x="1822487" y="1742553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9" name="Bent Arrow 38"/>
          <p:cNvSpPr/>
          <p:nvPr/>
        </p:nvSpPr>
        <p:spPr>
          <a:xfrm rot="5400000">
            <a:off x="8632322" y="1962378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0" name="Bent Arrow 39"/>
          <p:cNvSpPr/>
          <p:nvPr/>
        </p:nvSpPr>
        <p:spPr>
          <a:xfrm rot="10800000">
            <a:off x="8507628" y="4743924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Bent Arrow 40"/>
          <p:cNvSpPr/>
          <p:nvPr/>
        </p:nvSpPr>
        <p:spPr>
          <a:xfrm rot="16200000">
            <a:off x="1676579" y="4629955"/>
            <a:ext cx="1095035" cy="868680"/>
          </a:xfrm>
          <a:prstGeom prst="bentArrow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4" name="Flowchart: Process 43"/>
          <p:cNvSpPr/>
          <p:nvPr/>
        </p:nvSpPr>
        <p:spPr>
          <a:xfrm>
            <a:off x="9802890" y="4051615"/>
            <a:ext cx="45719" cy="1674835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" name="Flowchart: Process 44"/>
          <p:cNvSpPr/>
          <p:nvPr/>
        </p:nvSpPr>
        <p:spPr>
          <a:xfrm rot="3284856" flipV="1">
            <a:off x="9632419" y="3580386"/>
            <a:ext cx="896440" cy="69757"/>
          </a:xfrm>
          <a:prstGeom prst="flowChartProces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Rectangle 45"/>
          <p:cNvSpPr/>
          <p:nvPr/>
        </p:nvSpPr>
        <p:spPr>
          <a:xfrm>
            <a:off x="8556093" y="3381307"/>
            <a:ext cx="1142365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Switch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4250342" y="4387794"/>
            <a:ext cx="570990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9V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8" name="Oval 47"/>
          <p:cNvSpPr/>
          <p:nvPr/>
        </p:nvSpPr>
        <p:spPr>
          <a:xfrm>
            <a:off x="3525773" y="1466689"/>
            <a:ext cx="250284" cy="278559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2" name="Oval 51"/>
          <p:cNvSpPr/>
          <p:nvPr/>
        </p:nvSpPr>
        <p:spPr>
          <a:xfrm>
            <a:off x="4735050" y="1475786"/>
            <a:ext cx="250284" cy="278559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Oval 52"/>
          <p:cNvSpPr/>
          <p:nvPr/>
        </p:nvSpPr>
        <p:spPr>
          <a:xfrm>
            <a:off x="6390311" y="1431361"/>
            <a:ext cx="250284" cy="278559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Oval 53"/>
          <p:cNvSpPr/>
          <p:nvPr/>
        </p:nvSpPr>
        <p:spPr>
          <a:xfrm>
            <a:off x="7569789" y="1453820"/>
            <a:ext cx="250284" cy="278559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22222223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183362" y="0"/>
            <a:ext cx="507831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Law of Refraction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1648496" y="3567448"/>
            <a:ext cx="8873543" cy="6439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5731099" y="1262130"/>
            <a:ext cx="25757" cy="5241701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3129566" y="1262130"/>
            <a:ext cx="1651568" cy="1467406"/>
          </a:xfrm>
          <a:prstGeom prst="line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5758045" y="3618963"/>
            <a:ext cx="1146220" cy="2691685"/>
          </a:xfrm>
          <a:prstGeom prst="line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>
            <a:off x="5770924" y="3603706"/>
            <a:ext cx="2068800" cy="174647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4657596" y="2627290"/>
            <a:ext cx="1128585" cy="999897"/>
          </a:xfrm>
          <a:prstGeom prst="line">
            <a:avLst/>
          </a:prstGeom>
          <a:ln w="38100">
            <a:solidFill>
              <a:schemeClr val="tx1"/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Arc 20"/>
          <p:cNvSpPr/>
          <p:nvPr/>
        </p:nvSpPr>
        <p:spPr>
          <a:xfrm rot="20427414">
            <a:off x="4930627" y="2560319"/>
            <a:ext cx="805029" cy="393896"/>
          </a:xfrm>
          <a:prstGeom prst="arc">
            <a:avLst>
              <a:gd name="adj1" fmla="val 10616011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Arc 21"/>
          <p:cNvSpPr/>
          <p:nvPr/>
        </p:nvSpPr>
        <p:spPr>
          <a:xfrm rot="9460275">
            <a:off x="5721615" y="4904474"/>
            <a:ext cx="642896" cy="393896"/>
          </a:xfrm>
          <a:prstGeom prst="arc">
            <a:avLst>
              <a:gd name="adj1" fmla="val 10616011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4958278" y="1703960"/>
            <a:ext cx="34336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err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927790" y="5402963"/>
            <a:ext cx="42672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1750654" y="2545678"/>
            <a:ext cx="986168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Air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1716258" y="3742005"/>
            <a:ext cx="1946041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Water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757450" y="1113528"/>
            <a:ext cx="1464067" cy="58030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2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Normal</a:t>
            </a:r>
            <a:endParaRPr lang="en-US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8721969" y="2293034"/>
            <a:ext cx="1997613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</a:t>
            </a:r>
            <a:r>
              <a:rPr lang="en-US" sz="32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edium 1</a:t>
            </a:r>
            <a:endParaRPr lang="en-US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8723390" y="4135738"/>
            <a:ext cx="1965712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</a:t>
            </a:r>
            <a:r>
              <a:rPr lang="en-US" sz="32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edium 2</a:t>
            </a:r>
            <a:endParaRPr lang="en-US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1559168" y="1446629"/>
            <a:ext cx="1997613" cy="107721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Incident ray</a:t>
            </a:r>
            <a:endParaRPr lang="en-US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6706820" y="5402963"/>
            <a:ext cx="1997613" cy="107721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Refracted ray</a:t>
            </a:r>
            <a:endParaRPr lang="en-US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="" xmlns:p14="http://schemas.microsoft.com/office/powerpoint/2010/main" val="21651155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73" y="167425"/>
            <a:ext cx="8874641" cy="6508390"/>
          </a:xfrm>
          <a:prstGeom prst="rect">
            <a:avLst/>
          </a:prstGeom>
        </p:spPr>
      </p:pic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9339060" y="596953"/>
            <a:ext cx="2162531" cy="114798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179331" rIns="91440" bIns="8887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i="1" strike="noStrike" cap="none" normalizeH="0" baseline="0" dirty="0" smtClean="0">
                <a:ln>
                  <a:noFill/>
                </a:ln>
                <a:effectLst/>
                <a:latin typeface="Arial" panose="020B0604020202020204" pitchFamily="34" charset="0"/>
                <a:ea typeface="Open Sans"/>
              </a:rPr>
              <a:t>Transformer Efficiency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 dirty="0" smtClean="0">
                <a:ln>
                  <a:noFill/>
                </a:ln>
                <a:solidFill>
                  <a:srgbClr val="333333"/>
                </a:solidFill>
                <a:effectLst/>
                <a:latin typeface="Arial" panose="020B0604020202020204" pitchFamily="34" charset="0"/>
                <a:ea typeface="Open Sans"/>
              </a:rPr>
              <a:t>  </a:t>
            </a:r>
            <a:endParaRPr kumimoji="0" lang="en-US" altLang="en-US" sz="13700" b="0" i="0" u="none" strike="noStrike" cap="none" normalizeH="0" baseline="0" dirty="0" smtClean="0">
              <a:ln>
                <a:noFill/>
              </a:ln>
              <a:solidFill>
                <a:srgbClr val="333333"/>
              </a:solidFill>
              <a:effectLst/>
              <a:latin typeface="Arial" panose="020B0604020202020204" pitchFamily="34" charset="0"/>
              <a:ea typeface="Open Sans"/>
            </a:endParaRPr>
          </a:p>
        </p:txBody>
      </p:sp>
      <p:pic>
        <p:nvPicPr>
          <p:cNvPr id="5122" name="Picture 2" descr="transformer efficiency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9968" y="2696501"/>
            <a:ext cx="4167537" cy="1939768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/>
          <p:cNvSpPr/>
          <p:nvPr/>
        </p:nvSpPr>
        <p:spPr>
          <a:xfrm>
            <a:off x="7688687" y="2653783"/>
            <a:ext cx="1236369" cy="448689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26" name="Picture 6" descr="transformer basics - efficiency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2138" y="5883604"/>
            <a:ext cx="4457700" cy="5334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="" xmlns:p14="http://schemas.microsoft.com/office/powerpoint/2010/main" val="42506507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6" name="Picture 4" descr="http://bluford.pbworks.com/f/1237921369/butterfly-life-cycle-l.gif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2873" y="674345"/>
            <a:ext cx="10339754" cy="6606156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/>
          <p:cNvSpPr/>
          <p:nvPr/>
        </p:nvSpPr>
        <p:spPr>
          <a:xfrm>
            <a:off x="3387782" y="0"/>
            <a:ext cx="6152646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Life Cycle of Butterfly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="" xmlns:p14="http://schemas.microsoft.com/office/powerpoint/2010/main" val="9822171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nuclear-reactor.1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533" y="1407353"/>
            <a:ext cx="10739906" cy="5050916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/>
          <p:nvPr/>
        </p:nvSpPr>
        <p:spPr>
          <a:xfrm>
            <a:off x="3660334" y="0"/>
            <a:ext cx="4691028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dirty="0"/>
              <a:t>Nuclear Reactor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="" xmlns:p14="http://schemas.microsoft.com/office/powerpoint/2010/main" val="42046904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AutoShape 4" descr="data:image/jpeg;base64,/9j/4AAQSkZJRgABAQAAAQABAAD/2wCEAAkGBxATEhUUExQVFhQVFxgYGBYVGRsYHBwXGBcfFxgYGB0cKCogHSElIBodIzEhJSkrMi4uGyIzODMsOCgtLisBCgoKDg0OGxAQGzQkICQsLCwsMC8yMTAwNCwsMjQvLCwtMiwyLCwvLCwsLCwsLCwsLywsLCwvLCwsLCwsLDQsLP/AABEIANwA5gMBEQACEQEDEQH/xAAbAAEAAwEBAQEAAAAAAAAAAAAABAUGAwECB//EAEUQAAIBAgMCCQkGBgEDBQEAAAECAwARBBIhBTEGEyIzQVFhkdEUFRYyU1RxcpMjQlKBwdIkVWKSlKGxgqLiRHOywvBD/8QAGAEBAAMBAAAAAAAAAAAAAAAAAAECAwT/xAAzEQACAQIDBgUEAwEAAgMAAAAAAQIDERIhMRNBUVKRoWFxgeHwIjKxwQQU0fFCYiMkM//aAAwDAQACEQMRAD8A/WtlbOhaFGaNSxUEki5J6zQErzVh/ZJ3UA81Yf2Sd1APNWH9kndQDzVh/ZJ3UA81Yf2Sd1APNWH9kndQDzVh/ZJ3UA81Yf2Sd1APNWH9kndQDzVh/ZJ3UA81Yf2Sd1APNWH9kndQDzVh/ZJ3UA81Yf2Sd1APNWH9kndQDzVh/ZJ3UA81Yf2Sd1APNWH9kndQDzVh/ZJ3UA81Yf2Sd1APNWH9kndQDzVh/ZJ3UA81Yf2Sd1APNWH9kndQDzVh/ZJ3UA81Yf2Sd1APNWH9kndQFNwnwscaKY1CEtYldNLbqAudi8xH8ooCbQCgFAKAUAoBQCgFAZDZ/lKMBNFLJM+Ne7hmVUgzM0TgjkmMIqKU/EdRe5oDh522qIMO5jLSysDIggYBFE0aODyiQeLMjDTW28WysBAxO1do4qORUViqz5c8aspUwbTWKwP3wYVdntuy/wBVqAktitpMwbJIpIwQZlR9VGNkWcZDdR9llY2XNZt9gAALrB47HPh8QxURzLxgjV0cgOrOEJtziEBDdbnU/AAVZ2ltS7uI3XNHgssbR51VnxLpijdbElY8rdGljYaigPrHbW2rHLNHHDxojjmKPxbKHdcPA0Ot8vKlacWB+4BpvIH3icftFXZ0zyR8VAyAwMl82LImzJ62dYMumlyCQu9aA8g2ptVgTxQuuHnkCGMrnmSV1iizE2TMoU/nfSgNHsSeR4VaS+ZrnVGjIB3BlaxBG46DdQE+gFAKAUAoBQCgFAZ/hjzafP8AoaAs9i8xH8ooCbQCgFAKAUAoBQCgFAKAUBzggRBZFVQSSQoAFybk6dJPTQHSgFAKAUAoBQCgFAKAUAoBQCgFAKAz/DHm0+f9DQFnsXmI/lFATaAUAoBQCgFAKAUAoBQHLETBACellX+4hf1oD4x2J4tc1r3ZFA3au4QXPVdqAiptYFYmK2WSJpCb7rZNO2+ffcbu3QDmu3ouLidrjjY8/J5YABRSLjfZpFH50BLwO0ElvlDCwB5QtoSy/wDKmgOyzAuydKqrX+YsP/rQHWgFAKAUAoBQCgFAKAUAoDP8MebT5/0NAWexeYj+UUBNoBQCgFAKAUAoBQCgFAQNshuLGQgNxkdiwLAHOLXAIJH5igOOEgxhjAnkw7PrmyxNlOptYF+q2+gOq4SUG4MAIvqIjfWwP3+wdwoD5kwMjWzcQbCwvCTYaGw5Wg0HcOqgPUwky3yGBSRbSIjrIvZusnvoDjsRMSGYYl4nl4uPMYUZF9aTcGZj+d/yFAW9AKAUBnFw+OVZCLtN5QWDl+QcO04OVVvYOsPJF1AzLe5uSQPqQ7UCDSIvxkd8u7i+LBk9a3/9LqOnLY0BGCbVWMquXMPVLFWJBUkXJPrBtCLWylbG4agO2Mw+0DESrfaieR11UDi8jiJT0FQSlwddCeo0B5m2tmNxFbPpktquZ7et0FeK7b5+jLQHuzE2iJgZbFGc8YLrYARgAx7yFzA8m1yGuSCLEDSUAoDP8MebT5/0NAWexeYj+UUBNoBQCgFAKAUAoBQCgFAZvhFtlxIIIIxJImSR7tlAAbMBuNybfkCN9Rd7it3uO2z+FuDdLvNDE4JVo5JEBDA2O8i46jbwqm1ho2upTbQWTkk/Mk+kuA97w31o/Gm1p8y6jb0uZdUPSXAe94b60fjTa0+ZdRt6XMuqPl+E+zwCfK8PoL6SoT+QBufhTbU+ZdRt6XMupS4ThU3GCZ4guHlyIsge59Y2Yi1vv62OlumrKWV9xZSusW42NWLigFAKA5YiYIL6knQAbyTuA/8A2m86CgGGRgOUbsTc23DsXsH+9/TQHuJizIy/iUjvFqA+MBNnijf8SK3eoNAd6AUAoDP8MebT5/0NAWexeYj+UUBNoBQCgFAKAUAoBQEHa+1Egi4xtbkBQPvM2igePVeobIbsZ88K8TcReSfxEh+zXjBksBcs7EAgAC9gDeqTlJLJXM6k5xWSu2fB4JYpnM7Yu2JcWfLH9mF6FRbg6fiJJNVhTknibz7FYUpp4pO77Fzs3g3hokymNJGJLM7opLMd53afCr4I8DRU470SvM+F9hD9NfCpwR4DZx4DzPhfYQ/TXwpgjwGzjwPJNiYRgQYIrEEHkKNDp0CmCPAOnB7jPHgMGtHJOzYdTdI1XIwI3csHo7AL1WVNSWF6FJUlOOF6Hd02jgwSrjGQKLlZCEmVRvs/qvYXPKsaztUhp9S7mdqtPT6l39zh6asAJWw5XDG32me7AHpKAW06QG761cmlexs5NK7Rfjb2D95g+onjTaQ4obWnzLqPP2D95g+qnjTaQ4obWnzLqU+yNqASzPicXhGUu3EKki3SInTMSQCxFju03XNNpDihtafMupM2nwpw0aji5I5ZGYKiJIpux6yL2Hbao2kdExtYaJq/mNi8IDKzRzR8VKql8oOe6AgEjQG4uNLdI31e+5lk87M78Ftowz4aNoXDooyBlvYlOSbE7928VJYtqAUAoDP8MebT5/0NAWexeYj+UUBXT7QxCyYklHywgNCiozCVBEHY5lVjmL5kyjUZVNjmFwIU+3cayAphmSzQXzK5JDzlJBly7giliQTbMPiQPnGcKcYiZhs+Ym1yozEj7KVyvJU3N4kUW0vMoNjoQJe2tuYmObiosM7i0ZMuVyozTxRsNFsSEkd9DpxR7bARl4S4wgfwMi3BJzZ9DaE5eSp1BlcHdfiGI0NwBb7K2lLKJC0DxlSMobTMCoa4J6ibG4FiDvFiQJH8QfZJ/dJf/wCFv90B75Gx9aWQ9gsg/LKA3+6AqIOBuEjwzQRAoGkMuYksRIWzZtejW1tNL9JvUNXIauVOC4MYp249sS6TxM6RkxDLlUlSWVibhhuIIsD01i4ynmnZowlCc3iTs10LBuEeIwwtjoCBuE+Hu8ZO4Ag8qMk2GulzvqVUlF2mvVBVZxdpx9Vp7HmF4X8tRiIRBHIbJIZAwJ6M2gy36wTqfzq7lh+40c8Ocsl5l157wnvEH1E8abSHFDaw5l1HnvCe8QfUTxptIcUNrDmXUee8J7xB9RPGm0hxQ2sOZdSr2pwtjR1jw4XESkZsqyAALe2rANr2AdGttLxtE3aOZG1TeGLT9SC+2cZjc0GHiWGwtPLKQ4TMPVjUeubdJAHZVJupJ4Yq3iUqOpJ4Iq3F/wCHCDgG4XiWxJbDXuVKnOesBs1l+IHjVo02o4blo0mo4b+u80no3gPdMN9GPwqdjT5V0J2FLlXRD0bwHumG+jH4U2NPlXQbClyroh6N4D3TDfRj8KbGnyroNhS5V0RD2nwRwjqOKiihkVgySJEosw3XAtcdl99j0U2UFmkug2FNZqKv5ECHgbLmM5xbrirZRLGoC5fwujE5xexOo3DqqsqWJ4k7MpOg5Sxp2Z5FtTEYFRFPhoyrMwjkwxCo0jFpCGRtUJNySLjU0jKonaS9UIzqJ4ZK/iv2Wew+EBmcxSxcTLlLBc2cFQQCQbDXUaW6a1Te82TejL2pLCgM/wAMebT5/wBDQFnsXmI/lFATaAUAoBQCgPmRAwIO49RI/wBjUUBFGEdfUla3Qsg4wd+jn82NAOPmX1o8w642B/Mq1iPgM1AcptuYZDGskgRpXEaLIChZyCQoDWOtjbrOm8igKGPhGYmlSPDu6pNLxjGQG13JJXs19U2tu6KzhfOy3syhfOy3vefM7YnaaFUHk+DbfIwBlkyn7i6hBcesdd1qzeOpksl3MpbSrkvpXf04HuF4HOzIMVKk0URuiZN9hYZ7k6dY6f8AnRwxJKRq6eJJSzSLr0Y2f7ph/pJ4U2VPlXQbClyroPRjZ/umH+knhTZU+VdBsKXKug9GNn+6Yf6SeFNlT5V0Gwpcq6FLt7gmqHyjBLFFMikZQqqrDsOgVtTyukaGqumofVFK5V0oweOEVfp/w+sPsPH4UtLBJFMz2MsUi5AxHTG4uVPY1x8KSVRPFHoJRqp4otPw9zq/DIDkNhplxPRC4sD1ssmqsvRca9lTGpiytZkwrYnazT8f9JuyOEkUuZZbQSpbMjuNxvYqdL7uoW7r3xJZMvjSdpZFj5zw/tov718aY48ScceI854f20X96+NMceIxx4jznh/bRf3r40xx4jHHiUWI4YAO3FwtLChKvKrAag8rKOn8yL/DWilfNEKV80QcXg8VtRFY2w2GHLi+9K5KkK7WNkWzbgb1jadXPRd/Y57VK2f2rv7FtsLg/JHJx08gklylFKggBSQTe5JJ0GtbpPedKT3mgqSwoDP8MebT5/0NAWexeYj+UUBNoBQCgFAKAUAoBQETH7Mgmy8dFHJkOZeMUPlbrF9x7aAyOL2FimdzCyImInkWQAhiou32gN9SbXybwW6hpisSVktW/wDpgsSVktW9+niTcJhcfgUCRhcXh13KLRzKL3Nvuyf6JqEqkP8A2XcqlVp/+y7+50fhpG2kMMsjj142HFsnY2bp+Fx21eNTEsjSFXGrxXXIt9m7agmQOHC6kFWIBVhoQdatiRdTRK8ti9on9wqcS4jEuI8ti9on9wpiXEYlxK/b+LhOHlu0LDIbrI9lI6QxGvdVKjWFlKsouD0KtuGqjlNh5uLPNsuVi5OigKDvPxNTKVlexMpuMcVuhGxWxMfi3TESMmHeK/Ewjl2DWvxzjeTYaAWFvjWajUlLE8vD/TKMaspY5ZW3f6TNm8D4iWkxaxTzPa5KXVQL+rfeTfU6dGmmt3TjJ3kjR0Yyd5JMn+iezvdYPprTY0+VEf16XKug9E9ne6wfTWmxp8qH9elyroPRPZ3usH01psafKh/Xpcq6Gex3BOSN+Jw7BMNiHbOAhvHyS2pBtbTKDpa4GtVwYVhismRs1FYIrJlhDs7H4JQuHYYqBQAIZbJIqjoSQDKfgwFVUalP7c146lFCrT+14lwevU8HDQHVcNNZSRJmyqUZTZha+trdYrWMnJXsbQm5K9uppsJiUkRZEN1cBlPWCLirp3Lp3OtCTP8ADHm0+f8AQ0BZ7F5iP5RQE2gFAKAUAoBQCgFAKAoY41PF8mA2xkp5LkWP2gzf1Sa8pest1Vilppq/33MEllp9z/ffiX1bG5m9t7BnaYz4Z0V3AVxJexA0uCL620tbo6KrmtCtmtDzZ/AnBKn2sMcshJZnZd5JubdQqmxg82jP+vTebirkn0P2d7rD/aKbCnyj+vS5UPQ/Z3usP9opsKfKP69LlRB23wT2esEhWDDxm1g7LYLmOW9xqDrp22qs6NPC8kUqfx6Si8kVi8EMW54kzLHDh2VoWVL5iBmF1JtYHeL6kVLhJrCsrfNCXTk1hj9NuH+FsdvYrDaY2C8Y/wDU4cF0t1yJ66dp1FRtZQ+9ZcURtp0//wBFlxX7B4Zw5riOQwe3FsvzWve3++ytcWV9xtiyvuNGJ0/EveKm6LXQ45PxDvFLoXQ45PxDvFLoXRTcItpxwmByHf7RgBGwHKMT2DA+sD/o2PRVJPNfNxnNrFHz/RC9LpHtHFhZDiWuQjFQoUWu7v0KLjS1zuqJzkskrsipUlHJRu30K6Dgjj1Zz5RF9uS0y5WCqWYseLXp1O8kVFOE45t3v0XkRThUjnJ3v0XkbLZuCWGJIk9VFCi+/TpPxrVKxslZEmpJM/wx5tPn/Q0BZbHP8PH08gaUBEwnCXDvFHIxKLKyRgMNRM7ZOJbLcBlYhTra+l9KA+U4V4NsOcRHJnjGgsrBixiEyqFIBuUYNu3G9AdoOEOGYqAxLOwQKqO3L1uCVBGljc7hlNzoaAjjhPF5R5OVcSZ3j1tYuqpIoGv30csvZG97FSKA8x3C7BxxNJnLWWUhQrBmMMRmdBmAAbIpNiRQE/D7ZwzqWEq2DshLHLy0NmXW1yDppQH35wU6KsjnsRgD8Gay/wC6A94+Y+rEB/7jgH/sDD/dAV+08BjpGiMeJWFVkvIEjDFo7G6XckXJy8rKLa/CgOcbqeL1w5/jJRqpXUcYLJ1yjpPTyjWPDTV/vv7mHDT7n+9PH3L+tjcUAoBQCgIO2nAhYlgmqDMy5xq4Hq9N93Ze9VnoUqP6TzBRgTTnKouyXYNctaMC7L9227t31EVmxFfUyfVy5in4Hz2OHWSMYQ9YPGAdVtxI3Xv+XRVHG6w7jNxbjh3FoOBGzPdo/wDfjVP69PgU/q0uU99Cdme6x/78af16fAf1aXKPQnZnusf+/Gn9enwH9WlylZtngVhbxeTwRxvnJzk6DKjMAVvdgSBu1G/oIqrowTVkUf8AHpqScYrUk8G9kSOzYjE2MhDxBQCBlWSxJvYm5QEabvjprFuWbN4tyzeRfea4PZrVy5XY3ZP8RhynFrEBLxqFSS/JGTKb2Wx11Bv2UBb4fCxpfIoW++3ZQFLwx5tPn/Q0BZ7F5iP5RQCXZOHbKGijIVzIt1GkhfjC4/qL8q/XrQFftHCYHDQBWgUQtJGpVEB5RCwqbDWwUKumuUWt0UB8HaezIiGzxLZiwI3ZmRrsLaerG9yPwtfpoDrDtXBviSlhxqlSrFRymtInIO8lQJAT1E676A6ng1gcoXyaHKAQBkFgGTi2A+Kck9htQHeLJEWCQuMzZmKgcprBb3vc6KB8AB0UB08tPspe4eNAPLT7KXuHjQDy0+yl7h40BnNhbaOIRGYGMjGyoOOiXlW4yyxFeoDnCATlPXWWls9/+5GOlrve/wB5eZrq1NhQCgFAKAhbYkKxEhmXlJylXOdZFFrdu7sBvVZ6FJvI+cEBx0+kd8yXyHl82Oc6j1dlqiOrEfufzqT6uXFAKAUAoCBj1HG4fSPR3tnNmH2T82Ok9fZeqS1RnL7o/N24+tkKRHqJB9pLzpu3Otb/AKfw/wBNqQ06k09PV6+fy3gTauXI03OR/B/0oCTQGf4Y82nz/oaAs9i8xH8ooCbQHDGYOOVcsi5hcG2o1BuCLdVAQJ+DWCcENAhB6N33XQgW3C0ji39Z66A6x7EwwfOIxmzBr3PrAswNr20LsR1ZjQFjQCgFAKA+XYAEkgAC5J0AA3k0BlsDwggkkSNMRIX8pfRojylPGEIpItkAsQwN7KL2vWOLTN68PM51LTN6vd55GrrY6BQCgIO1drwYdQ0z5QdwAZieuyqCfzt01DdiG0jtgMbHMgeNgynp1H5EHUHsNE7hO5y2uTxWnGXzx8163OLf8vxf03qJ6Fan29ND5wTgzTi6GzJcKtmH2Y9c/ePV2WqI6sR+5k+rlxQCgFAKAgY9hxuH1j1d7Bxdj9k/NnoPX2XqktUUl90fm7ce7HjKxkFCn2kpyls51lY3v23vbovbopBWXUU1ZaWzf5IvCfNxaZc3r6hOMuRkfT7PU9HZp8KuXJz+vH8G/wCBQEqgM/wx5tPn/Q0BZ7F5iP5RQE2gFAKAUAoBQCgKzaG38LC4SWQKx6LE2v8AisDl/O1RdEOSKThDtgYpJMJgwZpGFnkU2ijF78t9xJ/CtydaxlVxfTDN9jnnWxfTTzfZef8AhRR4LE4hoEaOWERTcW80Nr50VsxG8gXW2bdqN9RO80lnrnYTvUio3azza8P0ab0Tb3/H/VX9tTsHzMf1nzy6+w9E29/x/wBVf202D5n1H9Z88uvsPRNvf8f9Vf202D5n1H9Z88uvsVe0ODmIglWeN58WApUpK6sRc3BF7Ajs336+iY03CV7tkwpOEr4mz3Y8O0cJxkpgEsczZ2iRgJY7C2g9R9LaA30FQ3Ui27XXchurGTla67+5O2hwswTwk53DLJFmi1jlW0ik3W2awtcgA3AI6aOrGSy6byXWjNWWuWW/UtNh7SjnaZ45c65kAGQpl5A0JIBa+/Xde1aRd2zSErtltVzQUAoCrxXCHCRycU8qh+ka2HzNbKv5kVGJFcSLSpLEDHyWlw4zhczuMpTNmtExsG+5a179NrdNUk80Zyf1Rz+WGxEAiICqv2kxsjZxczMSb9Z3kdBJHRSGnX8imrR9X+SFwlxAGRCuGe7Kcs7AEXYIWVTvAVm1GutrG9XNCzl5yP4P/wACgJNAZ/hjzafP+hoCz2LzEfyigJtAKAUAoBQCgFAYbauzsVHNPkgM4nYsji3JJFrNci1t191rflTNFLtJo67C2qcBEkGMhaEAm06jPExZr6suqHW3KHRvrKNXBlNW8dxzxrbPKoreO755kjE7ewyCJ3mkZTinKlT90Z1uQt88Q3A/KeipxJ2ebz+ehfGnZq7z3evY1GHnSRQ6MGVhcMpuDW6dzdO+h0oSKAUBTLwpwJZl49OSLkm4Ww6mPJb8iapjjqU2kbXuZDbe0pJ5RjYIGbCwoQ8kgyh0vmLRqSGIHX/qsdq28SX073/hzbZt44r6d7fDwJPB7YWIllxEjSYnC5jGBGmVbjLe5uCD63xGt6nA5Tbu1oW2bnNvE1oXvozL7/jP7o/2VbZPmZbYS532/wAHozL7/jP7o/2U2T5mNhLnfb/B6My+/wCM/uj/AGU2T5mNhLnfb/DNy7DxkQlw6xvMZXZlxDZSAGN7tut236b2vUxTjG18yYxlCLjdt+JdYLbU2DjSLGwsEjVUGJivJGQotmkFs6HTpFUVRwVpr1WhRVZU1aovVaexMxfCTCcZBbErZmJOSzKQUYDjG3IL2PxArTEnZpmrmm008vmpY7EtxWnFc5LzPq863X978X9V6mGnXTzJp/bu1enn8ucdsYhkYZYsxcZcwEhPSLXRGta51aw1+NXNCW4s8fwb/gUBKoDP8MebT5/0NAWexeYj+UUBNoBQCgFAKAUAoDnPMqKWdgqqLlmNgB2mgbsVMvCfAcUztPGUGhB3m/QFOpv2DXWqSqRiryM51YRV5MwuGheCSWdcHIuGnfLGjqA4diFXkC2VSTZRbq1rCk8N3aybOehLBd4bRby43fhw4F9sTgpixGS2LngLuz8UmQhQxuAbg69JtV9lJtvE0X2M228TV/IsPRnE/wAxxXcnhTZS5mTsZ877D0ZxP8xxXcnhTZS5mNjPnfY4Y7gpinjdRtDEEsrCzZLG4tZrC9vhUSoyaaxMrL+PNxaxszp2Vi2gGHGFcvHYl3yKHym+XN6p6ha/bVnfBa1389C7vs8Nru2/5Y00/CqBopYy0mFxAja0ciWcEA2MankybtAp1qrrRaa0fzqUf8iLi19rtv8A1xJeF25hhipojKeMLIAHbkXyAZY+gG+hW98160UlifxGsZLE/i9PmpfVoaigFAccXio40LyMFUb2Y2FQ3YhuxUz8LcCI+M44MCcoRQS7MdyqnrEn4VSVWMVdmc60IK79+hicPDikZ42whUYp3MA5IZcxZyGscqkLrbS1jVKcmspK3AzpTkspK19Fv4+RueCEGTCRpmRymdCyAqLrIynfvIIsT0kE9NXp/b1NKP29dPMua0NSNNzkfwf9KAk0Bn+GPNp8/wChoCz2LzEfyigJtAKAUAoBQCgFAUnC/ASzQAR3JSRXKD76re666dIPxWqsrLczJwriBiI8V5BIYYQQVCgSZiPXRGsWtpu66yqSd08N0uphVlK6ajdLr3LvZm28PLG3FSGNvKgWRuW9mnF8yNqitu/pB7KiNSMlk7Z/siFWMo/S7Z+uv77F9gtsYaZikUqOy7wrAn4jrHaK3TTOlSTJ1SSKAUBF2htGGBQ0sioCbDMbXPZ11DdiG0jPcL9pYCSDi3+3eVTxSQKJZNR66b8tvxHq6d1YV5QccLz8tTm/kTpuOGWbe5ZsymHwOJMRwTYdlxOUEuLEKrE5WZ91uSem9wRvqYtuOF5OxMZNwwPKVvnga8cHcd/Mpvpx+FNlPn/A2NTnfRHvo9jv5lN9OPwpsp8/4Gxqc76Iej2O/mU304/Cmynz/gbGpzvois27wcx2VH8qlxIjkDmIoikgAglbbzra3UTbWmzmmm5XGymmm5t+iIuAhxgxPlkeDJjVCnFNaOTlEFmjDb7AdNr30vSbliUkrruJueJSirpej7l5HwrwsskQ41oXVm4yGVMjACJjZ83qgaHMCQSAOmirRk0r28PQL+RCUkk7Pg/IsuDu0I5oyUmEtnkuQApAMjFQV+FgD94C/TWkHka03da8fAtauaEPEzKJolLKGYPlUkAmwBNhvNuygJlAZ/hjzafP+hoCz2LzEfyigJtAKAUAoBQCgFAKAUBiuEWwYpYJGWFRPx5CPEczEtLY526AQTmB0W56q55QjrbO+7zOWdOLWK2d93n8uQMPs/ETyRLFHLhWha7zNHboIOXMLNfdpca9VaTvLKLt88TSac1aLt6f6aLzJjv5jJ9GHwquznz9kV2VTnfRDzJjv5jJ9GHwps58/ZDZVOd9EPMmO/mMn0YfCmznz9kNlU530RR7X2Vi4Z1mlaXGR5MmVY1uDcnVUG7W9wOjXopGMoyu5X9P8EYThK8pNry/wgYWc4SHFNicLMgxAYrLGBcLlyrGzDlRnpGYWBNZTnhxOUdd6+ZGNSpgxOcbX3r5dG0i2xh+Mkk8oQxCKI/dyi7yDNxnSWtbL0Zf6q3U03k+B0xnFybTysv2WWDxkUq54nV1P3lIIv1aVdO5omnod6kkUAoCFiNrYaOQRvNGsjWsjMAdd2nb0ddRiRDkkYzhvjUxLxphIziJ4ZCzMi3RQEa6NJ131yg62tvtXPUqJyWBXa7HJVqpzWBYmui9STwVheafyhEaCIRvGQRa75gCAG32Km5I0OnXbZSUs0dEZKeaNd5O/tW7k8KuaEafZAeSOVnYyRZ8jZUuucANbTpAoCbDGwvdy3xAFu4CgKThjzafP+hoCz2LzEfyigJtAKAUAoBQCgFAKAUBRhbxnKAf4q58ma26cEmS/T0uOnWst3ru8/lzHd67vP5cs8bj4YQDLIkYOgLsFuey9aNpamraWp3RwwBBBBFwRqCD0ipJPqgFAKAptsY/DyRTwho5ZOLcGHjVQnkm6k35Paeis5tOLWplUacWtctDM7f2EkeK42GBzGqK0sUachixcBlA3tybMANAVPSaqoRjNtLcUjCMKjaW70Omxdk4yR5JYZXwcThQEaJWJK3ucsg5Nr7+n8qSjKUrxlb0JlCcpXjKy8v9LfzJtL+ZN/jw+FNnU5+yI2VXn7IeZNpfzJv8eHwps6nP2Q2VXn7IeZNpfzJv8eHwps6nP2Q2VXn7IzEuzsREZopopcRLK7FJlj5Nm3XI5K/A2y7twFTC8VaTv6FqalFWk7+hrdmbM4iPBRBWvHo5isqZuJYM0g+8Cf8AuINFHDhSQUFHCkunlvLDY0maMnPn+0lGbJk3SsMtv6bZb9Nr9NWg7rr+S1N3Wt83+SdVzQUAoDP8MebT5/0NAWexeYj+UUBNoBQCgFAKAUAoBQHjEAXOgFAZp8fh2gd88MiJilZijiMIBMGDMfvFRyv67aXvWDaw38fLf88znlJYbvj5b/nmZ7G7RM2IbEHDzS4VkCROY21I1uq2vlNycxtfdUwqYne2XEU6uKTaWXEs9g7F2kIuTiuIVnZliaBXKqxuL3Itffl6L9elRgqNtqVvQjBVbbUrLyLHzTtP+YL/AIqfupgq83b3J2dbn7e4807T/mC/4qfupgq83b3Gzrc/b3Oc+x9qFWA2gtyCB/DKutusNcfGjhV5uxDp1rff29zGY3AymAQjDkTRi8skqmOPKurXc8kDtvqKVL7O2vnkKt9lhyb8cv8AhstmcJIjiWWYS4aVo0URzkBCVZ78UdzHlC5B1GXTQ0jVWK0sn4/oQrxx2lk/H9F6Np4fjOK42PjfZ51z9fq3vW2JXtc3xRva5LqSwoBQHxLIqgsxCqBckmwA6yTQN2K2SeKZ8O8WSVVkf7RJBZDxTi9h6975bdF79FZuzaa+ZGbs3FrPP9EjZDEx6lzy5dZBlbSVgBbqG4HpABq0NOpNPTr+SbVi4oBQGf4Y82nz/oaAs9i8xH8ooCbQCgFAKAUAoBQCgKThhhpZMMRHc2ZGZRqWQG7KB09dum1qrIrIwGNZOOhmGDc4aJ04zMjDlE5RZdCxF7ga66Ea1hXkssrq5y/yZK8W43Sep+m7K2rh8QmeCRZF/pOo7GG9T2GtoTjNXizphUjNXi7nXD46F2KpIjMvrKrAkdGoG6rJpllJPRkipJFAKAreEU6JhpSzRKCjAGfmySpsGHSOwXvVKjtF/szqtKD09dCj4UY3BjjDMquJoY1i1EvGPmkyiOMdILA5+nMBfSsqsoK+Lesv+GFadNXxb0rb7+SMhDhpWhWAYaSPFgjKcrDdYqxa1l671ZSvCzVuC/BdScqdmrPcvx5G5Gy9qe/x/wCKv76YKnN2Gzrc/b3PfNe1Pf4/8Vf30wVObsMFbn7e4817U9/j/wAVf30wVObsMFbn7e5U8ItlbRyI0mIGIiSQNJGkAUlQDrYMS3w6L36KjDUTTcuxGCqmm5ZeRVYKd48WmJjwshwwBUKBaTPka7ojEGQhcw0vozdVRUk1NO113K1ZtVFK1139zZcF9sYeaJjHKTleUsJWGdQZGPKG9VtuvuFh0ValOMo5PjqaUKkZRyfHXXUtsLio5BmjdXW9rowYX6ritU09DZNPQ7VJIoDP8MebT5/0NAWexeYj+UUBNoBQCgFAKAUAoBQCgK3bc6ARqWhDGWKwmO+0i+oN+b8PbaqTeS81qZ1GrLTVa+f54GY4dQYS9oVJ2g1sow9xIVJGbjcmmUrcXasauBPJfV4fs56+zUrpXl4fv3KjBwvLJAuDQwzRsONdozZRlIYNe3wy9P8AxebcksLzNZuUksDs+prPN21vfYf8f/yphq83YjBW5l09x5u2t77D/j/+VMNXm7DBW5l09x5u2t77D/j/APlTDV5uwwVuZdPczm3sHio8RHLjXE8AQrdIiAGJ1FhfKTyeUd9rdFRFTjO8nl5ERjUjUvOWVuHz3PjgvjcJhsXK86CHjVQwyyIVAU5gRciyA23m17GqucI1W3wWfUq6lONZt5ZLPqfoxnQLnLLktfNcWt133V0XWp1XVrnsMyuAysGU7ipBB+BFTe4TvofdCRQCgK3aM6CbDqWhDZ2sHPL1icfZdt9D2Xqkn9S+dDObWKOnxbjCcKRAcixYfjMXHNK8iL9q4iLSG8jqDYNdWCm5AIFczcU1aN5Xfxs5JSgpK0byTf71fyxbcEI82JMsKNHBxRV7ggM+YFbXHKI5WvRftrqvd5HZdN3Rt6sXFAZ/hjzafP8AoaAs9i8xH8ooCbQCgFAKAUAoBQCgFAfm23QqTz+UxtJLIx4ghSbrbkKvXYaW67/nS6SdzPEop31/Ja8BsbhYVEEi8RjGuZFmBR3JY2IZvXHVY/lWNKcE7Ws/EwoTpp4bWfB/MzYyzKouzBRuuSBr1a10N2OptLU+6kkUAoBQFZljfETIwhYGKIMvrP60mkgOmTXTtLdlUycmvAzycmnbRfswG2FwaTgYYSSYVCxxKoWaCN9MpG9QfWvbdpWEXCM/p038Ec0HTjUtDTfwX6LLg5Bi3aV8E6RYZsuUSxlgza3K6jotdunTqrR427wasavHKV4NWLzyPa/vOG+i37qYavFdBhrcy6e48j2v7zhvot+6mGrxXQYa3MunuPI9r+84b6Lfuphq8V0GGtzLp7mMxiMjTR4lOMxjuxiIRuUPu5d9x1W9XQdFItqLUrXEW4xalZvPwuX/AAL2thsNEmGmQYae5DF/VlcGxYS3KseggnQ6dFZ0akYrC1Z/N5l/HqQgsElhf59d5tGmQEAsoLbgSLn4dddN0dl0dKkkUBn+GPNp8/6GgLPYvMR/KKAm0AoBQCgFAKAUAoBQCgIm0tmwTpkmjWRephe3aDvB7RVZRUlZorOEZq0lcwW19mxYWYriOMfDZRxHGEvlJ9ZATusRuOtrdVUhFQyv1M4RVPK/lf8ABZcHsNtYQji5IEjzNxazRuWCX5O4iw6h1VW1Xc1YpatnhatuyLLiNse2wf0pP3VNq3FE2r8V0HEbY9tg/pSfupatxQtX4rocsZh9tcW+WbC5srWyxuGvbTKS1geomoarW1RDjXtquhiJo4yiRrDI84YeUiJHDcXe8lx62o0PXeoqNYLNX8vlyKjWzs1fjb5c/S+DuPwckQXCsmRNMijKV7GU2IPxFaU5Qa+k1pTptfQWfGLe1xfqvr3Voa3PqgFAKAGgKSHyY4V+P8mMOeUtaxj51tTm+91/1XtWSw4PqtbPyMFgwPFa2flr89T86wb4X7RTC+VmbyVyrcqMucgQNyiALWqlGcbWSy/JShOFrJWXjv8A2fqWwllGHiE3OhFz333t09vX21vHQ6Y6E6pJM/wx5tPn/Q0BZ7F5iP5RQE2gFAKAUAoBQCgFAKAUAoBQCgFAKAUAoCn2vwbw07ZypjmG6aI8XIP+ob/gb1nOlGWe/iY1KEJ56PitT89kWwKMGO0r6HXOXG4jp7Qd1uyo/wDG2/8AY/8AC2/9mzVNt2HKwP8AbL41S1fiu5nb+Txj3Pcm2/xYD+2bxpavxXcW/k8Y9xk23+LAf2zeNLV+K7i38njHuVPCVNrcUvHnDGDOvGiFZL8XrfNf7vXbs6L0/wDmusVrepFq91iatv1I/BvZWFxGJDRxh8LGpNmvk466hTb1WYLm67adlXlCMmvA1lThOSbV7H6HatTY9oBQGf4Y82nz/oaAs9i8xH8ooDj/ABeU+rmBAG6xFspJ6tRmt1G2+s/rOz/611rbf+fxl556HRDiM+oBS19LXBsDl7dQRf8AqHUan6rlGqGHLXt5/jLwfEj4o4sq6qtrhwpBUW5DZTvuDmy9e41V48zWmv4ylFt6WvrxV93C59O+L0soNi34RcZWyggnffJcg9fRqZ+shR/jb3w48VfdwvuPJmxVtF5S6r6oB+zNg3K/FoRu3EGoeMmC/j3zeT11yzWmXDNb9UztNLiLtlTS+nqnTLv37828fhtY30qzcjOMaFld579ePlpbTx1VhhHxOb7RQBdt1t2ZsvTfcE6PvH8kcV8xVVDD9Dzy/Cvu436dbCrnKKAUAoBQCgFAKAUAoBQHlqA9oBQCgFAeAUB7QCgFAZ/hjzafP+hoCmj4Rzxji1CWTQXBvYHp1oD69K8R1R9x8aAeleI6o+4+NAPSvEdUfcfGgHpXiOqPuPjQD0rxHVH3HxoB6V4jqj7j40A9K8R1R9x8aAeleI6o+4+NAPSvEdUfcfGgHpXiOqPuPjQD0rxHVH3HxoB6V4jqj7j40A9K8R1R9x8aAeleI6o+4+NAPSvEdUfcfGgHpXiOqPuPjQD0rxHVH3HxoB6V4jqj7j40A9K8R1R9x8aAeleI6o+4+NAPSvEdUfcfGgHpXiOqPuPjQD0rxHVH3HxoB6V4jqj7j40A9K8R1R9x8aAeleI6o+4+NAPSvEdUfcfGgOc21pMTZZMoA5Qyi2u7pv10B//Z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30" name="AutoShape 6" descr="data:image/jpeg;base64,/9j/4AAQSkZJRgABAQAAAQABAAD/2wCEAAkGBxATEhUUExQVFhQVFxgYGBYVGRsYHBwXGBcfFxgYGB0cKCogHSElIBodIzEhJSkrMi4uGyIzODMsOCgtLisBCgoKDg0OGxAQGzQkICQsLCwsMC8yMTAwNCwsMjQvLCwtMiwyLCwvLCwsLCwsLCwsLywsLCwvLCwsLCwsLDQsLP/AABEIANwA5gMBEQACEQEDEQH/xAAbAAEAAwEBAQEAAAAAAAAAAAAABAUGAwECB//EAEUQAAIBAgMCCQkGBgEDBQEAAAECAwARBBIhBTEGEyIzQVFhkdEUFRYyU1RxcpMjQlKBwdIkVWKSlKGxgqLiRHOywvBD/8QAGAEBAAMBAAAAAAAAAAAAAAAAAAECAwT/xAAzEQACAQIDBgUEAwEAAgMAAAAAAQIDERIhMRNBUVKRoWFxgeHwIjKxwQQU0fFCYiMkM//aAAwDAQACEQMRAD8A/WtlbOhaFGaNSxUEki5J6zQErzVh/ZJ3UA81Yf2Sd1APNWH9kndQDzVh/ZJ3UA81Yf2Sd1APNWH9kndQDzVh/ZJ3UA81Yf2Sd1APNWH9kndQDzVh/ZJ3UA81Yf2Sd1APNWH9kndQDzVh/ZJ3UA81Yf2Sd1APNWH9kndQDzVh/ZJ3UA81Yf2Sd1APNWH9kndQDzVh/ZJ3UA81Yf2Sd1APNWH9kndQDzVh/ZJ3UA81Yf2Sd1APNWH9kndQDzVh/ZJ3UA81Yf2Sd1APNWH9kndQFNwnwscaKY1CEtYldNLbqAudi8xH8ooCbQCgFAKAUAoBQCgFAZDZ/lKMBNFLJM+Ne7hmVUgzM0TgjkmMIqKU/EdRe5oDh522qIMO5jLSysDIggYBFE0aODyiQeLMjDTW28WysBAxO1do4qORUViqz5c8aspUwbTWKwP3wYVdntuy/wBVqAktitpMwbJIpIwQZlR9VGNkWcZDdR9llY2XNZt9gAALrB47HPh8QxURzLxgjV0cgOrOEJtziEBDdbnU/AAVZ2ltS7uI3XNHgssbR51VnxLpijdbElY8rdGljYaigPrHbW2rHLNHHDxojjmKPxbKHdcPA0Ot8vKlacWB+4BpvIH3icftFXZ0zyR8VAyAwMl82LImzJ62dYMumlyCQu9aA8g2ptVgTxQuuHnkCGMrnmSV1iizE2TMoU/nfSgNHsSeR4VaS+ZrnVGjIB3BlaxBG46DdQE+gFAKAUAoBQCgFAZ/hjzafP8AoaAs9i8xH8ooCbQCgFAKAUAoBQCgFAKAUBzggRBZFVQSSQoAFybk6dJPTQHSgFAKAUAoBQCgFAKAUAoBQCgFAKAz/DHm0+f9DQFnsXmI/lFATaAUAoBQCgFAKAUAoBQHLETBACellX+4hf1oD4x2J4tc1r3ZFA3au4QXPVdqAiptYFYmK2WSJpCb7rZNO2+ffcbu3QDmu3ouLidrjjY8/J5YABRSLjfZpFH50BLwO0ElvlDCwB5QtoSy/wDKmgOyzAuydKqrX+YsP/rQHWgFAKAUAoBQCgFAKAUAoDP8MebT5/0NAWexeYj+UUBNoBQCgFAKAUAoBQCgFAQNshuLGQgNxkdiwLAHOLXAIJH5igOOEgxhjAnkw7PrmyxNlOptYF+q2+gOq4SUG4MAIvqIjfWwP3+wdwoD5kwMjWzcQbCwvCTYaGw5Wg0HcOqgPUwky3yGBSRbSIjrIvZusnvoDjsRMSGYYl4nl4uPMYUZF9aTcGZj+d/yFAW9AKAUBnFw+OVZCLtN5QWDl+QcO04OVVvYOsPJF1AzLe5uSQPqQ7UCDSIvxkd8u7i+LBk9a3/9LqOnLY0BGCbVWMquXMPVLFWJBUkXJPrBtCLWylbG4agO2Mw+0DESrfaieR11UDi8jiJT0FQSlwddCeo0B5m2tmNxFbPpktquZ7et0FeK7b5+jLQHuzE2iJgZbFGc8YLrYARgAx7yFzA8m1yGuSCLEDSUAoDP8MebT5/0NAWexeYj+UUBNoBQCgFAKAUAoBQCgFAZvhFtlxIIIIxJImSR7tlAAbMBuNybfkCN9Rd7it3uO2z+FuDdLvNDE4JVo5JEBDA2O8i46jbwqm1ho2upTbQWTkk/Mk+kuA97w31o/Gm1p8y6jb0uZdUPSXAe94b60fjTa0+ZdRt6XMuqPl+E+zwCfK8PoL6SoT+QBufhTbU+ZdRt6XMupS4ThU3GCZ4guHlyIsge59Y2Yi1vv62OlumrKWV9xZSusW42NWLigFAKA5YiYIL6knQAbyTuA/8A2m86CgGGRgOUbsTc23DsXsH+9/TQHuJizIy/iUjvFqA+MBNnijf8SK3eoNAd6AUAoDP8MebT5/0NAWexeYj+UUBNoBQCgFAKAUAoBQEHa+1Egi4xtbkBQPvM2igePVeobIbsZ88K8TcReSfxEh+zXjBksBcs7EAgAC9gDeqTlJLJXM6k5xWSu2fB4JYpnM7Yu2JcWfLH9mF6FRbg6fiJJNVhTknibz7FYUpp4pO77Fzs3g3hokymNJGJLM7opLMd53afCr4I8DRU470SvM+F9hD9NfCpwR4DZx4DzPhfYQ/TXwpgjwGzjwPJNiYRgQYIrEEHkKNDp0CmCPAOnB7jPHgMGtHJOzYdTdI1XIwI3csHo7AL1WVNSWF6FJUlOOF6Hd02jgwSrjGQKLlZCEmVRvs/qvYXPKsaztUhp9S7mdqtPT6l39zh6asAJWw5XDG32me7AHpKAW06QG761cmlexs5NK7Rfjb2D95g+onjTaQ4obWnzLqPP2D95g+qnjTaQ4obWnzLqU+yNqASzPicXhGUu3EKki3SInTMSQCxFju03XNNpDihtafMupM2nwpw0aji5I5ZGYKiJIpux6yL2Hbao2kdExtYaJq/mNi8IDKzRzR8VKql8oOe6AgEjQG4uNLdI31e+5lk87M78Ftowz4aNoXDooyBlvYlOSbE7928VJYtqAUAoDP8MebT5/0NAWexeYj+UUBXT7QxCyYklHywgNCiozCVBEHY5lVjmL5kyjUZVNjmFwIU+3cayAphmSzQXzK5JDzlJBly7giliQTbMPiQPnGcKcYiZhs+Ym1yozEj7KVyvJU3N4kUW0vMoNjoQJe2tuYmObiosM7i0ZMuVyozTxRsNFsSEkd9DpxR7bARl4S4wgfwMi3BJzZ9DaE5eSp1BlcHdfiGI0NwBb7K2lLKJC0DxlSMobTMCoa4J6ibG4FiDvFiQJH8QfZJ/dJf/wCFv90B75Gx9aWQ9gsg/LKA3+6AqIOBuEjwzQRAoGkMuYksRIWzZtejW1tNL9JvUNXIauVOC4MYp249sS6TxM6RkxDLlUlSWVibhhuIIsD01i4ynmnZowlCc3iTs10LBuEeIwwtjoCBuE+Hu8ZO4Ag8qMk2GulzvqVUlF2mvVBVZxdpx9Vp7HmF4X8tRiIRBHIbJIZAwJ6M2gy36wTqfzq7lh+40c8Ocsl5l157wnvEH1E8abSHFDaw5l1HnvCe8QfUTxptIcUNrDmXUee8J7xB9RPGm0hxQ2sOZdSr2pwtjR1jw4XESkZsqyAALe2rANr2AdGttLxtE3aOZG1TeGLT9SC+2cZjc0GHiWGwtPLKQ4TMPVjUeubdJAHZVJupJ4Yq3iUqOpJ4Iq3F/wCHCDgG4XiWxJbDXuVKnOesBs1l+IHjVo02o4blo0mo4b+u80no3gPdMN9GPwqdjT5V0J2FLlXRD0bwHumG+jH4U2NPlXQbClyroh6N4D3TDfRj8KbGnyroNhS5V0RD2nwRwjqOKiihkVgySJEosw3XAtcdl99j0U2UFmkug2FNZqKv5ECHgbLmM5xbrirZRLGoC5fwujE5xexOo3DqqsqWJ4k7MpOg5Sxp2Z5FtTEYFRFPhoyrMwjkwxCo0jFpCGRtUJNySLjU0jKonaS9UIzqJ4ZK/iv2Wew+EBmcxSxcTLlLBc2cFQQCQbDXUaW6a1Te82TejL2pLCgM/wAMebT5/wBDQFnsXmI/lFATaAUAoBQCgPmRAwIO49RI/wBjUUBFGEdfUla3Qsg4wd+jn82NAOPmX1o8w642B/Mq1iPgM1AcptuYZDGskgRpXEaLIChZyCQoDWOtjbrOm8igKGPhGYmlSPDu6pNLxjGQG13JJXs19U2tu6KzhfOy3syhfOy3vefM7YnaaFUHk+DbfIwBlkyn7i6hBcesdd1qzeOpksl3MpbSrkvpXf04HuF4HOzIMVKk0URuiZN9hYZ7k6dY6f8AnRwxJKRq6eJJSzSLr0Y2f7ph/pJ4U2VPlXQbClyroPRjZ/umH+knhTZU+VdBsKXKug9GNn+6Yf6SeFNlT5V0Gwpcq6FLt7gmqHyjBLFFMikZQqqrDsOgVtTyukaGqumofVFK5V0oweOEVfp/w+sPsPH4UtLBJFMz2MsUi5AxHTG4uVPY1x8KSVRPFHoJRqp4otPw9zq/DIDkNhplxPRC4sD1ssmqsvRca9lTGpiytZkwrYnazT8f9JuyOEkUuZZbQSpbMjuNxvYqdL7uoW7r3xJZMvjSdpZFj5zw/tov718aY48ScceI854f20X96+NMceIxx4jznh/bRf3r40xx4jHHiUWI4YAO3FwtLChKvKrAag8rKOn8yL/DWilfNEKV80QcXg8VtRFY2w2GHLi+9K5KkK7WNkWzbgb1jadXPRd/Y57VK2f2rv7FtsLg/JHJx08gklylFKggBSQTe5JJ0GtbpPedKT3mgqSwoDP8MebT5/0NAWexeYj+UUBNoBQCgFAKAUAoBQETH7Mgmy8dFHJkOZeMUPlbrF9x7aAyOL2FimdzCyImInkWQAhiou32gN9SbXybwW6hpisSVktW/wDpgsSVktW9+niTcJhcfgUCRhcXh13KLRzKL3Nvuyf6JqEqkP8A2XcqlVp/+y7+50fhpG2kMMsjj142HFsnY2bp+Fx21eNTEsjSFXGrxXXIt9m7agmQOHC6kFWIBVhoQdatiRdTRK8ti9on9wqcS4jEuI8ti9on9wpiXEYlxK/b+LhOHlu0LDIbrI9lI6QxGvdVKjWFlKsouD0KtuGqjlNh5uLPNsuVi5OigKDvPxNTKVlexMpuMcVuhGxWxMfi3TESMmHeK/Ewjl2DWvxzjeTYaAWFvjWajUlLE8vD/TKMaspY5ZW3f6TNm8D4iWkxaxTzPa5KXVQL+rfeTfU6dGmmt3TjJ3kjR0Yyd5JMn+iezvdYPprTY0+VEf16XKug9E9ne6wfTWmxp8qH9elyroPRPZ3usH01psafKh/Xpcq6Gex3BOSN+Jw7BMNiHbOAhvHyS2pBtbTKDpa4GtVwYVhismRs1FYIrJlhDs7H4JQuHYYqBQAIZbJIqjoSQDKfgwFVUalP7c146lFCrT+14lwevU8HDQHVcNNZSRJmyqUZTZha+trdYrWMnJXsbQm5K9uppsJiUkRZEN1cBlPWCLirp3Lp3OtCTP8ADHm0+f8AQ0BZ7F5iP5RQE2gFAKAUAoBQCgFAKAoY41PF8mA2xkp5LkWP2gzf1Sa8pest1Vilppq/33MEllp9z/ffiX1bG5m9t7BnaYz4Z0V3AVxJexA0uCL620tbo6KrmtCtmtDzZ/AnBKn2sMcshJZnZd5JubdQqmxg82jP+vTebirkn0P2d7rD/aKbCnyj+vS5UPQ/Z3usP9opsKfKP69LlRB23wT2esEhWDDxm1g7LYLmOW9xqDrp22qs6NPC8kUqfx6Si8kVi8EMW54kzLHDh2VoWVL5iBmF1JtYHeL6kVLhJrCsrfNCXTk1hj9NuH+FsdvYrDaY2C8Y/wDU4cF0t1yJ66dp1FRtZQ+9ZcURtp0//wBFlxX7B4Zw5riOQwe3FsvzWve3++ytcWV9xtiyvuNGJ0/EveKm6LXQ45PxDvFLoXQ45PxDvFLoXRTcItpxwmByHf7RgBGwHKMT2DA+sD/o2PRVJPNfNxnNrFHz/RC9LpHtHFhZDiWuQjFQoUWu7v0KLjS1zuqJzkskrsipUlHJRu30K6Dgjj1Zz5RF9uS0y5WCqWYseLXp1O8kVFOE45t3v0XkRThUjnJ3v0XkbLZuCWGJIk9VFCi+/TpPxrVKxslZEmpJM/wx5tPn/Q0BZbHP8PH08gaUBEwnCXDvFHIxKLKyRgMNRM7ZOJbLcBlYhTra+l9KA+U4V4NsOcRHJnjGgsrBixiEyqFIBuUYNu3G9AdoOEOGYqAxLOwQKqO3L1uCVBGljc7hlNzoaAjjhPF5R5OVcSZ3j1tYuqpIoGv30csvZG97FSKA8x3C7BxxNJnLWWUhQrBmMMRmdBmAAbIpNiRQE/D7ZwzqWEq2DshLHLy0NmXW1yDppQH35wU6KsjnsRgD8Gay/wC6A94+Y+rEB/7jgH/sDD/dAV+08BjpGiMeJWFVkvIEjDFo7G6XckXJy8rKLa/CgOcbqeL1w5/jJRqpXUcYLJ1yjpPTyjWPDTV/vv7mHDT7n+9PH3L+tjcUAoBQCgIO2nAhYlgmqDMy5xq4Hq9N93Ze9VnoUqP6TzBRgTTnKouyXYNctaMC7L9227t31EVmxFfUyfVy5in4Hz2OHWSMYQ9YPGAdVtxI3Xv+XRVHG6w7jNxbjh3FoOBGzPdo/wDfjVP69PgU/q0uU99Cdme6x/78af16fAf1aXKPQnZnusf+/Gn9enwH9WlylZtngVhbxeTwRxvnJzk6DKjMAVvdgSBu1G/oIqrowTVkUf8AHpqScYrUk8G9kSOzYjE2MhDxBQCBlWSxJvYm5QEabvjprFuWbN4tyzeRfea4PZrVy5XY3ZP8RhynFrEBLxqFSS/JGTKb2Wx11Bv2UBb4fCxpfIoW++3ZQFLwx5tPn/Q0BZ7F5iP5RQCXZOHbKGijIVzIt1GkhfjC4/qL8q/XrQFftHCYHDQBWgUQtJGpVEB5RCwqbDWwUKumuUWt0UB8HaezIiGzxLZiwI3ZmRrsLaerG9yPwtfpoDrDtXBviSlhxqlSrFRymtInIO8lQJAT1E676A6ng1gcoXyaHKAQBkFgGTi2A+Kck9htQHeLJEWCQuMzZmKgcprBb3vc6KB8AB0UB08tPspe4eNAPLT7KXuHjQDy0+yl7h40BnNhbaOIRGYGMjGyoOOiXlW4yyxFeoDnCATlPXWWls9/+5GOlrve/wB5eZrq1NhQCgFAKAhbYkKxEhmXlJylXOdZFFrdu7sBvVZ6FJvI+cEBx0+kd8yXyHl82Oc6j1dlqiOrEfufzqT6uXFAKAUAoCBj1HG4fSPR3tnNmH2T82Ok9fZeqS1RnL7o/N24+tkKRHqJB9pLzpu3Otb/AKfw/wBNqQ06k09PV6+fy3gTauXI03OR/B/0oCTQGf4Y82nz/oaAs9i8xH8ooCbQHDGYOOVcsi5hcG2o1BuCLdVAQJ+DWCcENAhB6N33XQgW3C0ji39Z66A6x7EwwfOIxmzBr3PrAswNr20LsR1ZjQFjQCgFAKA+XYAEkgAC5J0AA3k0BlsDwggkkSNMRIX8pfRojylPGEIpItkAsQwN7KL2vWOLTN68PM51LTN6vd55GrrY6BQCgIO1drwYdQ0z5QdwAZieuyqCfzt01DdiG0jtgMbHMgeNgynp1H5EHUHsNE7hO5y2uTxWnGXzx8163OLf8vxf03qJ6Fan29ND5wTgzTi6GzJcKtmH2Y9c/ePV2WqI6sR+5k+rlxQCgFAKAgY9hxuH1j1d7Bxdj9k/NnoPX2XqktUUl90fm7ce7HjKxkFCn2kpyls51lY3v23vbovbopBWXUU1ZaWzf5IvCfNxaZc3r6hOMuRkfT7PU9HZp8KuXJz+vH8G/wCBQEqgM/wx5tPn/Q0BZ7F5iP5RQE2gFAKAUAoBQCgKzaG38LC4SWQKx6LE2v8AisDl/O1RdEOSKThDtgYpJMJgwZpGFnkU2ijF78t9xJ/CtydaxlVxfTDN9jnnWxfTTzfZef8AhRR4LE4hoEaOWERTcW80Nr50VsxG8gXW2bdqN9RO80lnrnYTvUio3azza8P0ab0Tb3/H/VX9tTsHzMf1nzy6+w9E29/x/wBVf202D5n1H9Z88uvsPRNvf8f9Vf202D5n1H9Z88uvsVe0ODmIglWeN58WApUpK6sRc3BF7Ajs336+iY03CV7tkwpOEr4mz3Y8O0cJxkpgEsczZ2iRgJY7C2g9R9LaA30FQ3Ui27XXchurGTla67+5O2hwswTwk53DLJFmi1jlW0ik3W2awtcgA3AI6aOrGSy6byXWjNWWuWW/UtNh7SjnaZ45c65kAGQpl5A0JIBa+/Xde1aRd2zSErtltVzQUAoCrxXCHCRycU8qh+ka2HzNbKv5kVGJFcSLSpLEDHyWlw4zhczuMpTNmtExsG+5a179NrdNUk80Zyf1Rz+WGxEAiICqv2kxsjZxczMSb9Z3kdBJHRSGnX8imrR9X+SFwlxAGRCuGe7Kcs7AEXYIWVTvAVm1GutrG9XNCzl5yP4P/wACgJNAZ/hjzafP+hoCz2LzEfyigJtAKAUAoBQCgFAYbauzsVHNPkgM4nYsji3JJFrNci1t191rflTNFLtJo67C2qcBEkGMhaEAm06jPExZr6suqHW3KHRvrKNXBlNW8dxzxrbPKoreO755kjE7ewyCJ3mkZTinKlT90Z1uQt88Q3A/KeipxJ2ebz+ehfGnZq7z3evY1GHnSRQ6MGVhcMpuDW6dzdO+h0oSKAUBTLwpwJZl49OSLkm4Ww6mPJb8iapjjqU2kbXuZDbe0pJ5RjYIGbCwoQ8kgyh0vmLRqSGIHX/qsdq28SX073/hzbZt44r6d7fDwJPB7YWIllxEjSYnC5jGBGmVbjLe5uCD63xGt6nA5Tbu1oW2bnNvE1oXvozL7/jP7o/2VbZPmZbYS532/wAHozL7/jP7o/2U2T5mNhLnfb/B6My+/wCM/uj/AGU2T5mNhLnfb/DNy7DxkQlw6xvMZXZlxDZSAGN7tut236b2vUxTjG18yYxlCLjdt+JdYLbU2DjSLGwsEjVUGJivJGQotmkFs6HTpFUVRwVpr1WhRVZU1aovVaexMxfCTCcZBbErZmJOSzKQUYDjG3IL2PxArTEnZpmrmm008vmpY7EtxWnFc5LzPq863X978X9V6mGnXTzJp/bu1enn8ucdsYhkYZYsxcZcwEhPSLXRGta51aw1+NXNCW4s8fwb/gUBKoDP8MebT5/0NAWexeYj+UUBNoBQCgFAKAUAoDnPMqKWdgqqLlmNgB2mgbsVMvCfAcUztPGUGhB3m/QFOpv2DXWqSqRiryM51YRV5MwuGheCSWdcHIuGnfLGjqA4diFXkC2VSTZRbq1rCk8N3aybOehLBd4bRby43fhw4F9sTgpixGS2LngLuz8UmQhQxuAbg69JtV9lJtvE0X2M228TV/IsPRnE/wAxxXcnhTZS5mTsZ877D0ZxP8xxXcnhTZS5mNjPnfY4Y7gpinjdRtDEEsrCzZLG4tZrC9vhUSoyaaxMrL+PNxaxszp2Vi2gGHGFcvHYl3yKHym+XN6p6ha/bVnfBa1389C7vs8Nru2/5Y00/CqBopYy0mFxAja0ciWcEA2MankybtAp1qrrRaa0fzqUf8iLi19rtv8A1xJeF25hhipojKeMLIAHbkXyAZY+gG+hW98160UlifxGsZLE/i9PmpfVoaigFAccXio40LyMFUb2Y2FQ3YhuxUz8LcCI+M44MCcoRQS7MdyqnrEn4VSVWMVdmc60IK79+hicPDikZ42whUYp3MA5IZcxZyGscqkLrbS1jVKcmspK3AzpTkspK19Fv4+RueCEGTCRpmRymdCyAqLrIynfvIIsT0kE9NXp/b1NKP29dPMua0NSNNzkfwf9KAk0Bn+GPNp8/wChoCz2LzEfyigJtAKAUAoBQCgFAUnC/ASzQAR3JSRXKD76re666dIPxWqsrLczJwriBiI8V5BIYYQQVCgSZiPXRGsWtpu66yqSd08N0uphVlK6ajdLr3LvZm28PLG3FSGNvKgWRuW9mnF8yNqitu/pB7KiNSMlk7Z/siFWMo/S7Z+uv77F9gtsYaZikUqOy7wrAn4jrHaK3TTOlSTJ1SSKAUBF2htGGBQ0sioCbDMbXPZ11DdiG0jPcL9pYCSDi3+3eVTxSQKJZNR66b8tvxHq6d1YV5QccLz8tTm/kTpuOGWbe5ZsymHwOJMRwTYdlxOUEuLEKrE5WZ91uSem9wRvqYtuOF5OxMZNwwPKVvnga8cHcd/Mpvpx+FNlPn/A2NTnfRHvo9jv5lN9OPwpsp8/4Gxqc76Iej2O/mU304/Cmynz/gbGpzvois27wcx2VH8qlxIjkDmIoikgAglbbzra3UTbWmzmmm5XGymmm5t+iIuAhxgxPlkeDJjVCnFNaOTlEFmjDb7AdNr30vSbliUkrruJueJSirpej7l5HwrwsskQ41oXVm4yGVMjACJjZ83qgaHMCQSAOmirRk0r28PQL+RCUkk7Pg/IsuDu0I5oyUmEtnkuQApAMjFQV+FgD94C/TWkHka03da8fAtauaEPEzKJolLKGYPlUkAmwBNhvNuygJlAZ/hjzafP+hoCz2LzEfyigJtAKAUAoBQCgFAKAUBiuEWwYpYJGWFRPx5CPEczEtLY526AQTmB0W56q55QjrbO+7zOWdOLWK2d93n8uQMPs/ETyRLFHLhWha7zNHboIOXMLNfdpca9VaTvLKLt88TSac1aLt6f6aLzJjv5jJ9GHwquznz9kV2VTnfRDzJjv5jJ9GHwps58/ZDZVOd9EPMmO/mMn0YfCmznz9kNlU530RR7X2Vi4Z1mlaXGR5MmVY1uDcnVUG7W9wOjXopGMoyu5X9P8EYThK8pNry/wgYWc4SHFNicLMgxAYrLGBcLlyrGzDlRnpGYWBNZTnhxOUdd6+ZGNSpgxOcbX3r5dG0i2xh+Mkk8oQxCKI/dyi7yDNxnSWtbL0Zf6q3U03k+B0xnFybTysv2WWDxkUq54nV1P3lIIv1aVdO5omnod6kkUAoCFiNrYaOQRvNGsjWsjMAdd2nb0ddRiRDkkYzhvjUxLxphIziJ4ZCzMi3RQEa6NJ131yg62tvtXPUqJyWBXa7HJVqpzWBYmui9STwVheafyhEaCIRvGQRa75gCAG32Km5I0OnXbZSUs0dEZKeaNd5O/tW7k8KuaEafZAeSOVnYyRZ8jZUuucANbTpAoCbDGwvdy3xAFu4CgKThjzafP+hoCz2LzEfyigJtAKAUAoBQCgFAKAUBRhbxnKAf4q58ma26cEmS/T0uOnWst3ru8/lzHd67vP5cs8bj4YQDLIkYOgLsFuey9aNpamraWp3RwwBBBBFwRqCD0ipJPqgFAKAptsY/DyRTwho5ZOLcGHjVQnkm6k35Paeis5tOLWplUacWtctDM7f2EkeK42GBzGqK0sUachixcBlA3tybMANAVPSaqoRjNtLcUjCMKjaW70Omxdk4yR5JYZXwcThQEaJWJK3ucsg5Nr7+n8qSjKUrxlb0JlCcpXjKy8v9LfzJtL+ZN/jw+FNnU5+yI2VXn7IeZNpfzJv8eHwps6nP2Q2VXn7IeZNpfzJv8eHwps6nP2Q2VXn7IzEuzsREZopopcRLK7FJlj5Nm3XI5K/A2y7twFTC8VaTv6FqalFWk7+hrdmbM4iPBRBWvHo5isqZuJYM0g+8Cf8AuINFHDhSQUFHCkunlvLDY0maMnPn+0lGbJk3SsMtv6bZb9Nr9NWg7rr+S1N3Wt83+SdVzQUAoDP8MebT5/0NAWexeYj+UUBNoBQCgFAKAUAoBQHjEAXOgFAZp8fh2gd88MiJilZijiMIBMGDMfvFRyv67aXvWDaw38fLf88znlJYbvj5b/nmZ7G7RM2IbEHDzS4VkCROY21I1uq2vlNycxtfdUwqYne2XEU6uKTaWXEs9g7F2kIuTiuIVnZliaBXKqxuL3Itffl6L9elRgqNtqVvQjBVbbUrLyLHzTtP+YL/AIqfupgq83b3J2dbn7e4807T/mC/4qfupgq83b3Gzrc/b3Oc+x9qFWA2gtyCB/DKutusNcfGjhV5uxDp1rff29zGY3AymAQjDkTRi8skqmOPKurXc8kDtvqKVL7O2vnkKt9lhyb8cv8AhstmcJIjiWWYS4aVo0URzkBCVZ78UdzHlC5B1GXTQ0jVWK0sn4/oQrxx2lk/H9F6Np4fjOK42PjfZ51z9fq3vW2JXtc3xRva5LqSwoBQHxLIqgsxCqBckmwA6yTQN2K2SeKZ8O8WSVVkf7RJBZDxTi9h6975bdF79FZuzaa+ZGbs3FrPP9EjZDEx6lzy5dZBlbSVgBbqG4HpABq0NOpNPTr+SbVi4oBQGf4Y82nz/oaAs9i8xH8ooCbQCgFAKAUAoBQCgKThhhpZMMRHc2ZGZRqWQG7KB09dum1qrIrIwGNZOOhmGDc4aJ04zMjDlE5RZdCxF7ga66Ea1hXkssrq5y/yZK8W43Sep+m7K2rh8QmeCRZF/pOo7GG9T2GtoTjNXizphUjNXi7nXD46F2KpIjMvrKrAkdGoG6rJpllJPRkipJFAKAreEU6JhpSzRKCjAGfmySpsGHSOwXvVKjtF/szqtKD09dCj4UY3BjjDMquJoY1i1EvGPmkyiOMdILA5+nMBfSsqsoK+Lesv+GFadNXxb0rb7+SMhDhpWhWAYaSPFgjKcrDdYqxa1l671ZSvCzVuC/BdScqdmrPcvx5G5Gy9qe/x/wCKv76YKnN2Gzrc/b3PfNe1Pf4/8Vf30wVObsMFbn7e4817U9/j/wAVf30wVObsMFbn7e5U8ItlbRyI0mIGIiSQNJGkAUlQDrYMS3w6L36KjDUTTcuxGCqmm5ZeRVYKd48WmJjwshwwBUKBaTPka7ojEGQhcw0vozdVRUk1NO113K1ZtVFK1139zZcF9sYeaJjHKTleUsJWGdQZGPKG9VtuvuFh0ValOMo5PjqaUKkZRyfHXXUtsLio5BmjdXW9rowYX6ritU09DZNPQ7VJIoDP8MebT5/0NAWexeYj+UUBNoBQCgFAKAUAoBQCgK3bc6ARqWhDGWKwmO+0i+oN+b8PbaqTeS81qZ1GrLTVa+f54GY4dQYS9oVJ2g1sow9xIVJGbjcmmUrcXasauBPJfV4fs56+zUrpXl4fv3KjBwvLJAuDQwzRsONdozZRlIYNe3wy9P8AxebcksLzNZuUksDs+prPN21vfYf8f/yphq83YjBW5l09x5u2t77D/j/+VMNXm7DBW5l09x5u2t77D/j/APlTDV5uwwVuZdPczm3sHio8RHLjXE8AQrdIiAGJ1FhfKTyeUd9rdFRFTjO8nl5ERjUjUvOWVuHz3PjgvjcJhsXK86CHjVQwyyIVAU5gRciyA23m17GqucI1W3wWfUq6lONZt5ZLPqfoxnQLnLLktfNcWt133V0XWp1XVrnsMyuAysGU7ipBB+BFTe4TvofdCRQCgK3aM6CbDqWhDZ2sHPL1icfZdt9D2Xqkn9S+dDObWKOnxbjCcKRAcixYfjMXHNK8iL9q4iLSG8jqDYNdWCm5AIFczcU1aN5Xfxs5JSgpK0byTf71fyxbcEI82JMsKNHBxRV7ggM+YFbXHKI5WvRftrqvd5HZdN3Rt6sXFAZ/hjzafP8AoaAs9i8xH8ooCbQCgFAKAUAoBQCgFAfm23QqTz+UxtJLIx4ghSbrbkKvXYaW67/nS6SdzPEop31/Ja8BsbhYVEEi8RjGuZFmBR3JY2IZvXHVY/lWNKcE7Ws/EwoTpp4bWfB/MzYyzKouzBRuuSBr1a10N2OptLU+6kkUAoBQFZljfETIwhYGKIMvrP60mkgOmTXTtLdlUycmvAzycmnbRfswG2FwaTgYYSSYVCxxKoWaCN9MpG9QfWvbdpWEXCM/p038Ec0HTjUtDTfwX6LLg5Bi3aV8E6RYZsuUSxlgza3K6jotdunTqrR427wasavHKV4NWLzyPa/vOG+i37qYavFdBhrcy6e48j2v7zhvot+6mGrxXQYa3MunuPI9r+84b6Lfuphq8V0GGtzLp7mMxiMjTR4lOMxjuxiIRuUPu5d9x1W9XQdFItqLUrXEW4xalZvPwuX/AAL2thsNEmGmQYae5DF/VlcGxYS3KseggnQ6dFZ0akYrC1Z/N5l/HqQgsElhf59d5tGmQEAsoLbgSLn4dddN0dl0dKkkUBn+GPNp8/6GgLPYvMR/KKAm0AoBQCgFAKAUAoBQCgIm0tmwTpkmjWRephe3aDvB7RVZRUlZorOEZq0lcwW19mxYWYriOMfDZRxHGEvlJ9ZATusRuOtrdVUhFQyv1M4RVPK/lf8ABZcHsNtYQji5IEjzNxazRuWCX5O4iw6h1VW1Xc1YpatnhatuyLLiNse2wf0pP3VNq3FE2r8V0HEbY9tg/pSfupatxQtX4rocsZh9tcW+WbC5srWyxuGvbTKS1geomoarW1RDjXtquhiJo4yiRrDI84YeUiJHDcXe8lx62o0PXeoqNYLNX8vlyKjWzs1fjb5c/S+DuPwckQXCsmRNMijKV7GU2IPxFaU5Qa+k1pTptfQWfGLe1xfqvr3Voa3PqgFAKAGgKSHyY4V+P8mMOeUtaxj51tTm+91/1XtWSw4PqtbPyMFgwPFa2flr89T86wb4X7RTC+VmbyVyrcqMucgQNyiALWqlGcbWSy/JShOFrJWXjv8A2fqWwllGHiE3OhFz333t09vX21vHQ6Y6E6pJM/wx5tPn/Q0BZ7F5iP5RQE2gFAKAUAoBQCgFAKAUAoBQCgFAKAUAoCn2vwbw07ZypjmG6aI8XIP+ob/gb1nOlGWe/iY1KEJ56PitT89kWwKMGO0r6HXOXG4jp7Qd1uyo/wDG2/8AY/8AC2/9mzVNt2HKwP8AbL41S1fiu5nb+Txj3Pcm2/xYD+2bxpavxXcW/k8Y9xk23+LAf2zeNLV+K7i38njHuVPCVNrcUvHnDGDOvGiFZL8XrfNf7vXbs6L0/wDmusVrepFq91iatv1I/BvZWFxGJDRxh8LGpNmvk466hTb1WYLm67adlXlCMmvA1lThOSbV7H6HatTY9oBQGf4Y82nz/oaAs9i8xH8ooDj/ABeU+rmBAG6xFspJ6tRmt1G2+s/rOz/611rbf+fxl556HRDiM+oBS19LXBsDl7dQRf8AqHUan6rlGqGHLXt5/jLwfEj4o4sq6qtrhwpBUW5DZTvuDmy9e41V48zWmv4ylFt6WvrxV93C59O+L0soNi34RcZWyggnffJcg9fRqZ+shR/jb3w48VfdwvuPJmxVtF5S6r6oB+zNg3K/FoRu3EGoeMmC/j3zeT11yzWmXDNb9UztNLiLtlTS+nqnTLv37828fhtY30qzcjOMaFld579ePlpbTx1VhhHxOb7RQBdt1t2ZsvTfcE6PvH8kcV8xVVDD9Dzy/Cvu436dbCrnKKAUAoBQCgFAKAUAoBQHlqA9oBQCgFAeAUB7QCgFAZ/hjzafP+hoCmj4Rzxji1CWTQXBvYHp1oD69K8R1R9x8aAeleI6o+4+NAPSvEdUfcfGgHpXiOqPuPjQD0rxHVH3HxoB6V4jqj7j40A9K8R1R9x8aAeleI6o+4+NAPSvEdUfcfGgHpXiOqPuPjQD0rxHVH3HxoB6V4jqj7j40A9K8R1R9x8aAeleI6o+4+NAPSvEdUfcfGgHpXiOqPuPjQD0rxHVH3HxoB6V4jqj7j40A9K8R1R9x8aAeleI6o+4+NAPSvEdUfcfGgHpXiOqPuPjQD0rxHVH3HxoB6V4jqj7j40A9K8R1R9x8aAeleI6o+4+NAPSvEdUfcfGgOc21pMTZZMoA5Qyi2u7pv10B//Z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34" name="Picture 10" descr="https://encrypted-tbn3.gstatic.com/images?q=tbn:ANd9GcTUKgOWMag6unrb8vdTSpBL0jAgdu5ej2Z38m9vwwwKt_mQalhK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 rot="16200000">
            <a:off x="2589417" y="-2349841"/>
            <a:ext cx="6828287" cy="1158739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414502" y="-46321"/>
            <a:ext cx="615239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Structure of Graphite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1036" name="Picture 12" descr="http://www.avogadro.co.uk/structure/chemstruc/network/graphite1.gif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5479" y="2003494"/>
            <a:ext cx="8375418" cy="611406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/>
          <p:nvPr/>
        </p:nvSpPr>
        <p:spPr>
          <a:xfrm>
            <a:off x="416529" y="5153966"/>
            <a:ext cx="2843855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Carbon Atoms</a:t>
            </a:r>
            <a:endParaRPr lang="en-US" sz="36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937375" y="989199"/>
            <a:ext cx="1718739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0.14 nm</a:t>
            </a:r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2548328" y="1723869"/>
            <a:ext cx="2308485" cy="1588"/>
          </a:xfrm>
          <a:prstGeom prst="straightConnector1">
            <a:avLst/>
          </a:prstGeom>
          <a:ln w="381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 rot="5400000">
            <a:off x="2068643" y="1603947"/>
            <a:ext cx="104931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rot="5400000">
            <a:off x="4304677" y="1651415"/>
            <a:ext cx="104931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6879781" y="5246406"/>
            <a:ext cx="3087448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Covalent Bonds</a:t>
            </a:r>
            <a:endParaRPr lang="en-US" sz="36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17" name="Straight Arrow Connector 16"/>
          <p:cNvCxnSpPr/>
          <p:nvPr/>
        </p:nvCxnSpPr>
        <p:spPr>
          <a:xfrm flipV="1">
            <a:off x="1558977" y="4332157"/>
            <a:ext cx="1109272" cy="824459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 rot="5400000" flipH="1" flipV="1">
            <a:off x="3110459" y="4806847"/>
            <a:ext cx="527155" cy="507167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 rot="5400000" flipH="1" flipV="1">
            <a:off x="6790544" y="4709412"/>
            <a:ext cx="1216703" cy="192373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 rot="16200000" flipV="1">
            <a:off x="8716781" y="4444584"/>
            <a:ext cx="1396583" cy="482183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20037180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59615" y="-46321"/>
            <a:ext cx="626216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Structure of Diamond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2050" name="Picture 2" descr="https://encrypted-tbn2.gstatic.com/images?q=tbn:ANd9GcQTLOFLub6L3U4W0sU_72DEI3e4ilMyWHEcvpOxr97vonnWTToOOA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8773" y="1197242"/>
            <a:ext cx="6442175" cy="5379906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/>
          <p:nvPr/>
        </p:nvSpPr>
        <p:spPr>
          <a:xfrm>
            <a:off x="686352" y="1436408"/>
            <a:ext cx="2843855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Carbon Atoms</a:t>
            </a:r>
            <a:endParaRPr lang="en-US" sz="36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5" name="Straight Arrow Connector 4"/>
          <p:cNvCxnSpPr/>
          <p:nvPr/>
        </p:nvCxnSpPr>
        <p:spPr>
          <a:xfrm rot="16200000" flipH="1">
            <a:off x="3447737" y="2098622"/>
            <a:ext cx="1154243" cy="974361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V="1">
            <a:off x="3585147" y="1424066"/>
            <a:ext cx="2246027" cy="36226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659975" y="3582650"/>
            <a:ext cx="1308356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154 pm</a:t>
            </a:r>
          </a:p>
        </p:txBody>
      </p:sp>
      <p:cxnSp>
        <p:nvCxnSpPr>
          <p:cNvPr id="12" name="Straight Arrow Connector 11"/>
          <p:cNvCxnSpPr/>
          <p:nvPr/>
        </p:nvCxnSpPr>
        <p:spPr>
          <a:xfrm>
            <a:off x="7525008" y="4137259"/>
            <a:ext cx="1574022" cy="74977"/>
          </a:xfrm>
          <a:prstGeom prst="straightConnector1">
            <a:avLst/>
          </a:prstGeom>
          <a:ln w="381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 rot="5400000">
            <a:off x="7045323" y="4017337"/>
            <a:ext cx="104931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rot="5400000">
            <a:off x="8546839" y="4469539"/>
            <a:ext cx="1049311" cy="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553932" y="3762379"/>
            <a:ext cx="3263394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Hydrogen Bonds</a:t>
            </a:r>
            <a:endParaRPr lang="en-US" sz="36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18" name="Straight Arrow Connector 17"/>
          <p:cNvCxnSpPr/>
          <p:nvPr/>
        </p:nvCxnSpPr>
        <p:spPr>
          <a:xfrm flipV="1">
            <a:off x="3707567" y="4032354"/>
            <a:ext cx="849443" cy="124916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 rot="16200000" flipH="1">
            <a:off x="3050497" y="4459571"/>
            <a:ext cx="682055" cy="682053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18430619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Zener</a:t>
            </a:r>
            <a:r>
              <a:rPr lang="en-US" dirty="0" smtClean="0"/>
              <a:t> Diode as Voltage Regulator</a:t>
            </a:r>
            <a:endParaRPr lang="en-US" dirty="0"/>
          </a:p>
        </p:txBody>
      </p:sp>
      <p:pic>
        <p:nvPicPr>
          <p:cNvPr id="5122" name="Picture 2" descr="https://encrypted-tbn2.gstatic.com/images?q=tbn:ANd9GcTGA7uhRL2mN7CbIy48yPCM_GqS-BHBdbHiwiTJBpjJ3ndJZlt7KQ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6744" y="1690688"/>
            <a:ext cx="6568782" cy="537686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="" xmlns:p14="http://schemas.microsoft.com/office/powerpoint/2010/main" val="93741283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8" name="Picture 4" descr="http://www.proprofs.com/quiz-school/user_upload/ckeditor/Screen%20Shot%202013-01-23%20at%2010_26_23%20AM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772523"/>
            <a:ext cx="12192000" cy="6085477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/>
          <p:nvPr/>
        </p:nvSpPr>
        <p:spPr>
          <a:xfrm>
            <a:off x="3791991" y="0"/>
            <a:ext cx="384836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Carbon Cycle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="" xmlns:p14="http://schemas.microsoft.com/office/powerpoint/2010/main" val="22522223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423698" y="0"/>
            <a:ext cx="4275466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Nitrogen Cycle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="" xmlns:p14="http://schemas.microsoft.com/office/powerpoint/2010/main" val="7377026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 descr="http://4.bp.blogspot.com/_77BOzhFABv8/TBNwaxnb5TI/AAAAAAAAAAM/uzV6KJpMG54/s1600/States+of+Matter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326" y="1074420"/>
            <a:ext cx="11985674" cy="5404362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/>
          <p:nvPr/>
        </p:nvSpPr>
        <p:spPr>
          <a:xfrm>
            <a:off x="3588076" y="-113489"/>
            <a:ext cx="4734501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States of Matter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="" xmlns:p14="http://schemas.microsoft.com/office/powerpoint/2010/main" val="14657789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 descr="http://www.memrise.com/s3_proxy/?f=uploads/mems/3362574000130524125134.gif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1667" y="175846"/>
            <a:ext cx="9355016" cy="6682154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="" xmlns:p14="http://schemas.microsoft.com/office/powerpoint/2010/main" val="21995282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4" name="Picture 4" descr="http://www.nestlefamily.com/Nirf/cm2/upload/EBC53EC4-EB35-4E09-B76B-551540583430/5.06.04_Whats_In_The_Night_Sky_tp.gif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969118" y="-2553375"/>
            <a:ext cx="6863363" cy="11929404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="" xmlns:p14="http://schemas.microsoft.com/office/powerpoint/2010/main" val="4539220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587918" y="0"/>
            <a:ext cx="512871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The Solar System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="" xmlns:p14="http://schemas.microsoft.com/office/powerpoint/2010/main" val="19488969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http://www.global.tdk.com/techmag/inductive/vol1/images/indx2Fig02.gif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591" y="287756"/>
            <a:ext cx="9864144" cy="6484252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="" xmlns:p14="http://schemas.microsoft.com/office/powerpoint/2010/main" val="16884077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lectromagnetic induction, a basic test setup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484" y="347730"/>
            <a:ext cx="10174631" cy="6375042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="" xmlns:p14="http://schemas.microsoft.com/office/powerpoint/2010/main" val="30306577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4" name="Picture 6" descr="https://encrypted-tbn0.gstatic.com/images?q=tbn:ANd9GcSO6PtVQCsEElNi1hbhjtX-7Tx_Rt2WqDzemIiOzYLVDi0JHpt7kQ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6342" y="359534"/>
            <a:ext cx="9130092" cy="6131157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="" xmlns:p14="http://schemas.microsoft.com/office/powerpoint/2010/main" val="286272119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utoShape 6" descr="data:image/jpeg;base64,/9j/4AAQSkZJRgABAQAAAQABAAD/2wCEAAkGBxQSEhQUEBQWFhQVFB4YGRgVFxwYFRcVFhcXGBYUFxQYHSggHRwlHRgVIzIhJSktLi4uGCAzRDYsNygtLisBCgoKDg0OGhAQGywmHyQsLCw0LiwrLCw0LCwsLCwsLCwsLCwsLCwsLCwsLCwsLCwsLCwsLCwsLCwsLCwsLCwsLP/AABEIAKsBJgMBEQACEQEDEQH/xAAbAAEAAgMBAQAAAAAAAAAAAAAABAYBAwUCB//EAEgQAAIBAwEFAwcICAQFBQEAAAECAwAEERIFBhMhMRYiURRBUlRhkZIHFyMyU3HS4RUzQoGTobHRcoKj8DRVc7TBJENiouKD/8QAGgEBAQADAQEAAAAAAAAAAAAAAAECAwQFBv/EADURAAIBAQUGBQQBBAIDAAAAAAABAgMREhRRkQQTIVJTkhUxcaHRMkFhsfAzgaLhBcEiI0L/2gAMAwEAAhEDEQA/APuNAczbthJMgWGUxMDnUOYI8CARWupTvqy1r0dhprUVVVjbXo7Dg9mbz14/C34604Vc0tTmwC6k+4dmb314/AfxUwq55ajALqT7h2ZvfXz8B/FTCrnlqMAupPuHZm99fPwn8VMKuaWowC6k+4dmb318/AfxUwq5pajALqT7jHZm99fPwH8VMKuaWowEeefcOzN76+fhP4qYVc0tRgI88+5kvZOwrqOVXlvGkQdU041cvOSTWynRUHam36s3UdlVKV5Sk/V2lnrcdIoBQFV303rNjJboBbjjiTv3MxhjXhBDjUEbJOs+bzUAbfe3jVPKGGswpMxgV5oVilcosnGCAaMjqQPHFASJN87RXkRnbMQky3DbQxgAaZEfGGZQeYHgeuDgCM2/9mFDEzBdAkJMEndjd+HG7jTlQzA4JHMc+lAdO03jt5HSNGJd3lQLoYENbELNq5cgCVGTyOoeNAVXb3yiNbXVxBotyIHjXS9wUuJeKkbfRQ8Mg4145sOnmoCy3G9VvHOYJOIrhWbJjbQ3DQSOFfGGIU55cuozkYoCLHv1aMjMGk5CMhTE4eQXBIhMaEZbUQR+4+bnQHmx3vVrK5vJIyqW8ky6eeplgZlBIYDSzY+qemcUB5sd4rhZCt5FAi8FpSIJjLLHpAOh4dIdiVPIoDzBHhkDcm+9qVBBl1GYwcPhOZOMqcTRoA9HnnpQGYd9rR2iVGdzMqsNMbnSsjtGuvlle+jg+jpOcCgJO2d4UtpNMxAjFtJOzd4uFhaJThQuCPpPHPTAPPAGyx2/FOk7RatUBIdXRo2B0B1yGAOCpBB9tAUm2+VMvDaP5MBLcTaHj4nKKP6EiXVp5ki4hOMD63soDu7W+UC3hScqkrSQ6ToMTqWVpOEHGV+rqzz+7xBoCed8rUSNGWcMuoEmNguuOPivEGIwXCc9PsI6gigIlpvxDK44YcxG3eYExSiZgjxJmOHh95TxBzznPmIyQB4uN/IFMLj9Q4nMjsGDxG1HfXh6SSc5H9M0BYNi7WS6QvEHADaSHUqcjB8/UYI5jIoCfQCgFAKAGgKGu2ibuQS3rxSpdcNLMIrCSEJlTo08Q6wS3FB0rjH7JyBos9+p5QgWOAtKYMHU2mI3JkBhmHXix6OYGM8xhetARbjfqeTyZQYoS8tqGGSXl41y0coiB5aAI2B6nvdRjmBLj+UF3VQiwhikWssx0QvLO8TcUDmAujpyOSBkdaA1tvbOZv1kTRnyUqsJOWEzPrZC4yyNpx08OdAbbLfmeTQFjhLSNCAQWKRG4aVTDL5+KmgEjlnPQdaA27c3jmbZdvcK4hklniR2RlUBWm4cml5QyqMAnLA4oDk2u/ssMMQZ0mZrl1LOyktCs8cQKzR6Y3YcQc1B8NPImgJz7+zrqLRxaWWUoctiMQXyWbSTH0O/xDjGAp+8AWLcXaUlxbyPK6uwuZkDJ9TSkrKun2YHL/zQFioBQHF29u8LmSGUTzQSQhwrQ8PmJdAYMJY3H7A6Y6mgIN7uVHMsomnndprdbd3JjDlI5HkVhiMKGy5HTGAOVAaW+T+313DBnAnEuQEiyjXAxI6SmMvnm2AWIGo8iOQA5m9m5c0zhbUhUe3ihkYy6SVhk1KXjER14GcaWTJODkdAOxsHd5o767u5VVeIFSJVYv3QAHlOVGlnCxZUdNHU5oDztTcaOeS5c3NyiXenjRIYuG4WNY8d6IuMqozhvOelAa2+T+A3Dz8WXLa+79HyEkXBZQ5QuVAwQC3Ij76A2T7iwtgrLMrrHAiOCmpfJGcxuAUwWOtgcjBB6CgJ+z92Io7aa2ZnljneRpDKV1MZyWk+oqgcyfNQHJf5Po31Ga5uZG4DwIzGMSJHIACeIkYZ2wqjLk9PacgQ3+T4xNB5LM6abszyPiNWUm2aEcJFj0ejkEedudASpfk4t2FuvElCwYx+r1MwlMxfiaNSFnLatBAIP3UB2Nv7sRXZYytINVtJbHQVH0c7Rs7DKnvAxrjzczyNASLXYaRvdOGcm6YF8kYUiMR9zl4DPPPOgK/F8mtquMPNyjhQHUucWzKVb6n1m0IGI6gDGKA8Q/JrAomAmmzNHo1fRagONxlbUI8swYAZYnIoCWm4cImllMjsZQ5bKQ54ksYjeQScPWDjJAzgFjyxyoD1tLcWGZUUyzLw7UWylSn1BJFJlgUwTmJQR0IJGOdAa7b5P4ERUWWYaTOQRwxg3QxJhVjCgDqBjAzjmOVAdPdbdqOxSRImZuJJxGyFVQdKrhI41CqMKOQHXNAdugFAKAUAoDVJpB1NpB8TgH31G0vMjaXmaxJH4p1z1HXx++pejmS/HMa4uXNOXTpypejmL8Mxqi58059enP76Xo5i/DMzrj8U5e0ebpS/HMX4ZgPH5inXPUdfH76X45i/DMF48YymPDIx7qXo5i/DMxqi6ZTA6dKX45i/DM9KUPIaT7BjoeZqqSfkyqUX5M2ogHIAD7qpT1QCgFAKAUAoBQCgFAKAUAoBQCgFAKAUAoBQCgFAKAUAoBQCgFAc7bWyEukCSFgAcgo2kg/fWFSnCorJK01VaFOsrKiTX5OL2Ct/Tn/iGtWEociNHh2y9NaDsFb+nP8AxDTCUORE8O2XprQx2Bt/Tn/iGmEo8iHh2y9NaDsBb+nP/ENMJR5FoPDtl6a0HYC39Of+KaYSjyLQeHbL01oOwFv6c/8AFNMJR5FoXw7ZemtDHYC39Of+IaYShyLQeH7L046I32m5NvG2oNKeRGDI2MMCp6YPQmsoUKcHbGNhtpbLRpO9Tgk/wrCnb0bP2faX9halZcXLNrzeXPdXBWM/ruWZMe41uN5e9kbp21tJxIFkD4Iy9xPIMHr3ZJGX9+KA7lAKAUAoBQCgFAKAUBVflB2hPDHb+TNIrSXKRngrE0rKwbKoJxozyHXFAcm53mmtNPF48jeS69E/BRjI9wIk4hgQquNQ5qSMeYmgJtlvo5mWCWBFfyxrVikupAUtjcF1JQZH7ODjH7sUBz4/lGdoxKLUcNbFbyU8XmqOZVEaDT3jqjHM45E/cQLFutt6W6SXiQGJ4yAM6xG+pA4KtIityzg8uooDXuXe3Enli3jozxXhjHDXCKnAgkCLnmQC7czzPs5AAWWgFAKAxmgM5oDGaAzmgFAM0AoBQCgNdzMERnboqljjrgDJxQFc2VvxbzAtIsluOGsoNwEAaOQhVIKOwySQMHB59KA6Y3itS0aC4i1ShTGusZcOCUK+OQDjxxQGvZu81vcTSQwOHMUayM6kGPDvImnUD9YGMk8sYI50BG2dvbHMc8KeOEo0i3EiAW7xp1cOGJUY5jWFyOmaAkneizCoxuYgshIUlwNRVgjAfcxAPhmgOwKAwaA+Z77bvWF1tS2aa4VZ1IDxmYrJo0MYBEoBweIQ3Mjz/dQH00UAoBQCgFAKAUAoBQCgNFzZpJoMiKxRg66hnS46MPA8zzoCFtvYUdykgYBXeIxcTQrMEJDFMOCCpI5gjBoDmbH3ItoY2SRVm1TcbvIqqrhBGuhEACgINPLrzznNAdeDYdugISGNQYuEQEABiBJEePRBZuXtNAetl7IhtlK28axqTqIUYy2AMnx5AD7gKAkW9qiFyihTI2tyBjU+AupvE4VRn2CgN1AKAwaA+aWM00cbOkd420lhlMuoSm1Mn+FyI2XOCgj59Acc6A33O19olGERkwouCkrW3flWGKJotUZUBS0jSpjALBcjxoCLtXau0DKWRZtcazskSwNwuVpqgYyYw5Zz9Uk8xjkQcgTrjeK8cuVE0cImIV1tGaTC2sLhRCy5KtMZhqx+yBkZzQEU3d/G8zIss0qSXZRXjZU5RRGBRjClTzxzPMEA5zQG2Xa+0SrCJpdI4xSZrXEkgjhR0DRFQFzIXUd0agOQzzoC/wBjIWjRnGGZASMYwxAJGD050Bxd4d6ks5EWZGKOBhoyrvqJI0+Tg8RhjnlQfPQHY2fepNGskRyjdCQVPI4IKsAQQQQQRkYoD3dwcRHQnGtSufDUCM/zoClWPydCJcJclDw44/ooliDrE4f6UIRxCcEZJHJm8aAl2e4iRoicViEW2X6o5rZsxXPP9rVzoCVu1ukLQnMrSr5NHbKGQLiGEyFASv1m+kbJ/pQHNHyfc1/9S44Vu9vC6IqzpG6lVDTDm2gHlgD30BFl3Ak1pGs30LQ3SyvpGs+WSRM6KpJwCFfDcyOXXrQH0CJNIAHQAD3UBk0BSr+yli2i02uMJcFNKm6eJjwIyZfoVjKyYUMcZ6DzUB2Nn70xTMixpLlzyygGFMayCQ97kpV09vPGM0B3qAUB44o8R76lqJahxV8R76Wi1DiDxHvpahahxB4j31bRahxB4j30FqM8QeI99BahxB4j30tFqHEHiPfUtQtR6qlFAKAUAoBQCgFAKArPyjcTyCXg6w/Eh/Vlw+nyiLXgxd/GjVnTzxmgKbHtu8traXycTti4cxl45pVMaRRHhqZwZcFi/UcyGwwAFAdS42/tFTKyJqBF2EXgNhPJ3jEDZHNiyu5x+1o5UB3Nxp5HF0ZXd/8A1J0NIjRlk4ceCsbAaVznoMZzQFooBQFA3xtbiS902rusnkqYMUkcZjJll+km4i6mj5AAISc6uQyDQFt3egljt0Wc6pBqyTgsQWJUuVABbBGSAATmgOjmgGaAZoDj228cck7wJHMxjk4buI/olcIr4L59Fl94oDsZoBmgGaAZoCsbzf8AH7K/68//AGc1AdLYm70FrngoAWYsScZyVVcA48EUfuoDrUB4dcgjxGPfUatI1bwKk+4ikki6nAz0+j5e9K5sFRy92cPhmzcvuzz2DHrdx7o/wVMFRy92PDNm5fdjsGPW7j/T/BTBUcvdk8M2bl92OwY9buP9P8FMFRy92XwzZuX3Y7BD1u4/0/wUwVHL9jwzZuX3fyY7BD1u4/0/wUwVHL9jwzZuX3fyOwI9cuf9P8FMFR5f2PDNm5fd/IO4I9cuf9P8FVbFRX292PDdm5fd/JbLG34UaRgltChctzY4GMk+NdS4HclYrDfQooDDHHWgbsNHlsfpr8QrG/HNGve0+ZaoeWx+mvxCpvIZob6nzLVGfLY/TX4hTeQzWo3tPmWo8sj9NfiFN5DNaje0+ZajyyP01+IU3kM1qN9T5lqPLI/TX4hTeQzWpN9T5lqPLI/TX3im8hmtRvqfMtR5ZH6a+8U3kM0XfU+ZanF3l2JJKUubNxHdwqQjNnhyocFoJlHVGIHMc1IBHgczYS9lbbSTRHLphuWQO1uzoZUHtCnmORwaA6woD5v8osZ8siJtYpVMBVXeMMTITKQjSF14aBhGc4562593BAu+1LJ5RFw5TEUkDHTzDqOqH2VGrTZCd1NWJ2r7/b8r8kKDYs63bzeVOYWB+hPRSR5jnGB91YqFjbtNk696nGF2Ks+6XF+pHsN3rhEuEe9kfij6Nsd6I+IJPP8AlRQsVlrMp7SpVIzuRVn2S4P1Ncm7l0bQQ+XOJg5bjAEEqc9wjVkjn4+ao4f+NlrLDalGq6m7jx+1nBeiIdxuy9tPc30bwOSzz6ZLf6UEQqnDW54vdXuZ+p+0fGthyHQ2bZ3MzWty9xpXgKZIVXuO7Atkc+X1gP8ALUs42mxVP/W4WLztt+/p6Hqw2BcI1xrvJHSVSEBHeiJzhg2eoyPdWKhZbxZtntN9xdyKu5Lz9czVFu5dC1eFr1zKX1LLjmoH7PXJH76lz/xstZktqW93lyPpZw0J9lsqZBb67lnMQIkJHKXPTIzyI5c6zSNEqltvBcXb6fhfgg7y/wDH7K/68/8A2c1U1looCjb870W9td2CTT8MrcGSRe9+qNvOqk4HMaygx44oBvddDj4uJrqGDybVC1qZFZ59R1A8Md5wujSjZByeRoCPtDem7jklCJq0BwI3iYSBEtxIl2zjkQ0nd0ADm2OoNAR9o7y3qpJG7KneYcZYHxhrQTJGqq/Ji5Kh8/s460B7td7bpBFFwy8ncAVlbW8fkHG1l+mTMCuf3daAj3m37t0hcXGVMc2vRbSRBpPJkdItRbIYMXAI6EY6qaA3y713iLJoQMY4XxEY3L6Us+Ml0Zc98NKAmkD9vrlTQHVtNqXL2+0RMfpIY/o3jQxk8S0SYaRqPNWcrkH9mgKrsTblzCkpWSV8xW4BYy3SJK7OJCzzaSpICgqMgcupbFAdnZu9V7IYHKqFJgDx8JtTNcROz4cnu6WUcsHrg0BK3C2tcXFxM1w5INrA2gIyJFKxmMsOliQWXuqW8+ByoDpSbzxjaS2vHh0G3JK611+UcVEWPr1IJ7vWgLOKA8SxhlKt0IwfuNGreDI0mrGVk7iW3pTfxWrRhaPItDlwGy9OOiHYO29Kb+K1MNR5FoMBsvTjojHYK29Kb+K1MNR5VoMBsvTjoh2CtvSm/itTDUeVaIYDZenHRDsFa+lN/FamGo8i0QwGy9OOiHYG19Kb+K1MNR5FohgNm6ce1DsDa+lN/FamFo8i0RcDs3Tj2odgrXxm/itTDUeVaIq2PZ07VTj2r4LPDEFUKOigAZ8ByredJQ/lEtI47rZl0ERZPLljebSA2ho3Coz4yRnkAaAvwoD5rvhNE9xNP3Q0FvIrLJbRzaltGV20M790nygY+4581AfSU6D7qA9UAoBQGCM9aAAY6UBmgFAKAq+83/H7K/68/wD2c1AWigPlHyhxbPvbzZ0vltoOBORNm4izwl+kAbL+kmn/APpQF/td6bGRgkV5bO7dFSeNmJ8AobJoRuw3/pqD7Va0YqjzrU5cds3Ujqh+moPtVqYqjzrUY/ZupHVD9NQfarTFUedakx+zdSOqM/pqD7VaYqjzrUuP2bqR1Q/TUH2q++mKo861GP2bqR1Q/TUH2q++mKo861GP2bqR1Q/TUH2q++mKo861GP2bqR1Rj9NQfarRbVR5lqMfs3UWqJiTqQCGBBGQcjmD0Nb07TrPmtzuap3jS7wOFwOMfDjpiIezPNW+8E1QfThQGq6kKozKMkKSB4kDkKj8jKCTkkyg9u7z1A+81z72eS1PXwGy9SXb/sdu7z1Bveau9nktS4DZepLt/wBjt3eeoN7zTezyWpMBsvUl2/7MdvLz1Bveab2eS1GB2TqS7f8AY7eXnqDe803s8lqTA7Lzy7V8mO3t5/y9veabyeS1/wBEwWy88+1fI7e3v/L295pvJ5LX/RcFsvPPtXyO3t7/AMvb303k8lqR7Fstn1z7V8na25vqLOS3W4t5hFOFBnUAxRSSHAjc+b766DyWrOBD+VImSO1tOQS8u1hkJALCPSzsFz0J0jvdRQhcbG1WKNI0zpRQo1Ek4UYGWPMn20BSN6YtlR3LC6tOJK8ZmkkCAqqaXwXJYElhC+AAfqc8cqAvq+ygM0AoBQCgFAKAUAoCr7y/8fsr/rz/APaTUBaKA+d7Ukb9JvAuFiRIGwkdpgmVpQ+szjWRhB9TJ6+ygLwuzoQciKMEecIoI/figsONLutYfWZFAY8jxWAJ9ne/pWvd08kYqhF8Lq0MNulYBgpjGo9AZWyfuGqm7p+Vi0JuI2W3VZ6Bd0rAkgRgkdQJGyPvGqm7p5Iu5ilbdWiK/vXs+ztlgMEEchmnMWWll0LiKSQk8IO2e5jAHnoqdN/ZaEdGK84rRHX2burZvBHLLCillBbTJLoGfAyaWx94BpuoZLQKjB8FFaIkNujs8EAxqCegMjZP3DVzpu6eS0LuI8q0A3Q2fq08NdXo8RtXu1U3dPJaDcxstuqz0MLujs85xGp09cSMcff3uVN3TyQ3Ebfp9iXcboWMuky2kEhCBQXjVzoUYUaiCcYrYZGrsLs31G1/gp/agO/DEEUKgAVQAAOQAHIACgPF4Dw309dJxnpnFSXkxY39PmfP7iS64aFFQyHOoasKPDnjnXG1PhY/Xgd9WntbVO5NKz6uHn6Zfc2ztccRAioYzjWSeY9LAxzq2SvW28PQzcNpxCkpLd5WcdRE1xxWDKgiAOk55k8tPLHLz1FGXG1+38tJShtSnO/NNP6eHl65muCS6KSF0QOPqAN18cnHKl2d2y1W+hrhT2zcSjKav28HZws9Dy8l3wQQicXJyuru483exRxnYrH68C1Ke2OlBQmlJebs8/TI93L3IMYRUIIGsk4wc97Axz5Zq3Xett4en/ZsnDaXWjKMlc+6s4v+57D3HGxpTg8+9nvewaceNRRkm7X7CENpVaTlJXH5KzivV/c1273X0utYxgfR4bOo5PXlyHSijOx2vj6GFKntapyU5py+zs8vVEr5UbCabZBCIXkQxSFEGSeGyl9I8/LJ/dXajhl5slw7Ki2lPbbQS6eS3j78MQwIhIoZC5OM5ByMeIoQt4oD55vzcIbyHQtrLJGByu+EIY8O2SJs8VZOQ7oVh0OKA+hKaAzQCgFAKAUAoBQCgPkvylbsyz7Y2c0byCOY6X0uwCmIFnIweRaLK8vR9tAfWqAiXOzYpDqeKNn8zMiswx05kZ5UBxN0rG4QTC6DjOlRrfUWKgh5BhmChiQcDH3UCdjtNV7upZyW8du0jBImLKRL3xqzkavDnWtwg+DOyG1bTTlKUZNOXnw8/Y3X27trLNDM0jB4QoXEuAQnTUPP1NW7G9e+5hGvXjSdJN3X5o9wbv2qXT3SyHiOCCvE7neGCdNFGKdq8xOvXnCNOTdi8lkRrbdKyRNGtyBOZ1InZGSQpwzpeNg2NJIxnzmkVGKsRK9atXkpVW20rP7GldjLJLdQyTyeStbxRxgylsEs7SkSMSWbITmcnBAquxqxmFN1KclOPBokbQ3XtJuBqlYG3ACFZcEgEEBvHpUcYtp5GyFevCEoRbsl5rM3nYNt5YLwSES46CTuHlpyV+6l2NtpJVq8qSpNu6vsabDdi0hM5SRsXAKuplyAGJJ08+XU1FGCMqm0bRUcZSbbj5cPIsNhbiKNI0JKooUEnJwBgZPnrYcvmSKAUBrn+q3+E/0qPyMofUip4rmPcFAKAUAoBQDFAYoCF8sU7LslgrFeI8UZIOCUdwGX94rpXkeHL6mXawso4Y1jhRUjQYVVGFA9gqmJIoD5Xv8ATrDeOGlmIkgViscVtiNSZiSJZsYY8OQ55kafPyFAXLfOwea3URytEwcHUvnGMEHBFa6qtR27DUcKjsSfD7q0pPZy59ek/n+Kue7+Xqetv5csOxDs7c+vS/z/ABUu/l6sb+XLDsQ7OXPr0v8AP8VLv5erG/lyw7EOzlz69L/P8VW6s3qxv5csOxGOzlz6/L/P8VS6s3qyb+XLDsQ7OXXr8v8AP8VW6s3qxvpcsO1Gezd16/L/AD/FS6s3qxv58sO1HQ2BsGdZl4l5M6MCrKCVJDKRyYHIPnyOYrOCSf31Oba5udJpqPDjwikWE7j25IJlvCV6Hy25yMjBweJy5V0HjE3Zm7cUD60kuWOCMS3U0qc//hI5GfbigKBv7YbLsrmwjazgJurnEhK8xERpLE59ORD7dJoC62m42z4XEkNpEjrzVlXBBwRkH95qMqbT4FPbcyDP1pB9zD+1ce7hkfS4vaOdnnsXB6cvxD+1N3DIYvaOox2Kg9OX4vypu4ZExe0dRjsXB6cvxflTdwyGK2jqMdioPTl+L8qbuGQxW0dRjsVB6cvxflTdwyGK2jqMx2Jg9OX4vypu4ZDFbR1HqOxMHpy/H+VW5DIYraOoy4HcqxmSJri2SV1iRNcg1MVVRgE11x8j56s26km82Uva2zNlRbXtbHyODTLC5bun9YxBh558Ecf5qprPq9vEqKqoMKoAAHQADAFAYuodaMhJAZSMjqMjHKj4ljK600UX5tz65N7vzrRh45vU9LxavlHtiPm3Prkvu/OmHjm9R4tXyj2xHzbn1yX3fnTDxzeo8Wr5R7UPm3Prk3u/OmHjm9R4tXyj2ofNufXJvd+dMPH86l8Xr5R7UPm3Prkv+/30w8fzqPF6+Ue1D5uD65N/v99MPH86jxevlHtQ+bg+uTe786YeP51I/wDlq+Ue1HvbW70FztO0iueLJwrVplHExCXgliQFodPNjxDz1DpjBreea3a7S90IZoD5hv7dJFdrHLJOyyLxQpkjC6xrMcUEbwsXbVH0zkGRPSoC+7a/VfvFYVPpOrZP6n9j5ZtK9uI55YwZSsbPd5AZ8xcLuwdRn6Yk6MjuqByrWkrDrk5KTWXH/WpFG37ohZMFmRJxhVYIwVoeHI0YPMhWYjxwcVbqMN7Pz9SS+37vSCOGQsZckRsRIBOIwBkjSSpOcZ5rkcql1GW8nZ/MzZNt+4CTMMallC6OC+YE45j4jMTh8oA3mxnPSl1B1ZJN/f0/J727eTPYwOWKu00esxNJECpLZOpRrVSME8qJcSzk3BNnMtNv3MUcKqXfM7gmRHcNF5QqALMxDHCMTqK5OMmsmkzWqklYkTf0/dhSSFwy5H0TfQqLrgs7DPf7nfxy6VLqM1Vn/PWwsXyeTyOitKzO3lEo1MCMqJX0EA8wNOMDwp/9IjbdBt/zifQhW48wzQFA+UTcyK8ubGR45X+n4chRnwkAjlfJ0/U+kCd7l1AoC9omFAHQDHPryHjUYPl2+F5Lb8OaEO+VeHhrkgySLmFyvTIdANXmDGtEeJ69ZuNjRxbzatynGt1ZysUBAkKsJeJGYBniaiW1B3OTzOPZWViNbqS4x/HwSW3hu8y4VARMECmNi0am5EQY45MCh1ZyPHmKXUXez/nr8G2z29cmREkwuHZc8Fjxys7RYXB+j7oDef62elLqKqkrbP8Arz4k7djas8/F44UaQCAFZWjYs4MbZ5HAVeYOfZgio0lYZU5uSdv88yp7u7WuI0DF5nJtAW1GWcLMZIl1OJcBCAz8lOMaifq1k0jRTnJK237HXtN4rtwjEKAFhLjhtljLdSQPg57uFVX6fyqXUbFVn5+n7Je720p5ro8ZjgQNmMIyLG4mI0Ek4ZgoHe9vtqNJIypTlKXE+r2f6tP8A/oK3LyPMq/XL1Z8+2/upbSbctJXVi7xSTE62/WW5gERHPkB4DkapgfRhQGaAUAoBQCgFAKA5G39qm2MDELwnnEcjHOUDhgjD/PoBz5iaAr0O/66I9ceJJoXlj0lSunhyywh11axqjj1ZKgZOKAgjeyDysXT68wWLxyKigrrcQXLAHXqGAoAyuCT1yOYHeTfRGYxrbztMHZTENGsLGqO0mdekjEicgc5bGKAk7N3shnnkhRX+jLjXgFCYnEci8iSpDHHeAzgkZAoCp7XW+a8lBW+8nMjAmFYyOGBFwlhZmBjyeLqcd7+RAFs3u2pHbwK0pIDOAOXnwTzrVWkkuJ3/wDH0ZVatkcvu7CndsLX0z/L+9c28R7ODqfjVGe2Nr6Z/l/em9RcFU/HcjHbG19M/wAv703qGCqfjVDtja+n/T+9N7EYKr+O5Dtla+n/AE/vTexGCqfjVDtla+n/AE/vTeIYKpmtUY7aWn2n9P71d4jHCTzj3I6O7289vNcRxxvlieQ8eX31nTlekcu2UXTottrLg0y/iuo8IzQCgPEjYBPXl++oyrzPlzb3KCQbecHp9WuW2XKz6K7Q60ff4MdsF+wn+GpbLlYu0OtH3+B2wX7Cf4KtsuVi7Q60ff4MdsV+wn+CpbPlft8i7Q60ff4HbFfV5/gpbPlft8i7Q60ff4HbFfV7j4KWz5X7fIu0OtH3+B2xX1e4+Cls+V+wu0OtH3+B2wX7C4+ClsuVi7Q60Pf4LLvFvYbOCxl0ExytpdSvf0+TyOvUgL3lXLHkBkmuuPkeBV+uVmbN0dzdnaKxmWHgmAzaRCTIF1KhiE3EweZzq0+bGPPVNZps9oynaLRmSYpqYaDo4fIEjH0IYD/P5qAzsfbN1NfTxkgW8Vw0QAgyCFiVwTccXkct00eHjyAuFAKAUAoBQCgIm1dmxXMTwzrrjcYZckZwQRzUgjmB0oD51vZdQwXrqLWNhFFCSS0y5E3Ft8ZjBiQiPUNb45Hry5ATLi92YJLiI27lgEhZUfKyiVktVwqy4DZ0JqbDYA81AR9r7WsnjLpZu8jSB5QxK8MtMLNxKVk5gmJ10rqU8Pny50BfLXYsMcjyRppZ86sM2nLEFiEzpBJAJIAzigOhQGm5tkkGmRVZfBgCPcaAi/oO3+wi+Bf7ULax+g7f7CL4F/tQWsfoO3+wi+Bf7UFrH6DtvsIvgX+1Bax+g7f7CL4F/tQWsfoO2+wi+Bf7UFpj9BW32EXwL/ahDZBsqBGDRxRqw6FVAPvFATaAUAoBQGNI8KAaR4UA0jwoBpHhQDSPCgGkeFANI8KAaR4UBHu7GOXTxEV9OdOoA41KUbGfFWZT7CaAQ2MasGVFDKnDBAGRGCCEB9HIHL2UBJoDgbY2BFpmmt4Y1uyrMsojXicQrgNnHM+agN26fG8nzcBg5kcgOxZhHrPDBYqpPdx1Gfv60B2aAUAoBQCgFAcTae6lrcSmaZHLsqq2JpUR1jJKK8aOEcAs3JgepoDXHubZq5dYSGLh/wBZJpDLMLgEJr0j6UBsAY6+YkUBi43Ms306oj3WLcpZVBLTGc69LjWOKSwDZAJOMCgLAKAUAoBQCgFAKAUAoBQCgFAKAUAoBQCgFAKAUAoBQCgFAKAUAoBQCgFAKAUAoBQCgFAKAUAoDhb3bfayiWVYWmy+khOq5BweQJ6jH766NnowqyalK7wyb/RjJtLgio/Oo3qM3ub8FdmAo9b/ABl8GF+WQ+dRvUZv/t+CmBodX/GXwL8sh86jeoze5vwUwNDq/wCMvgX5Ze4+dVvUZvc34KYGh1f8ZfAvyy9x86reoTe5vw0wNDq/4y+Bfll7mPnVb1Cf+f4aYGh1v8ZfAvyy9zPzqt6hN/P8NMDQ63+Mvgt+WXujpbufKCbqdYWtJY9fRmBwD7cgVor7LThC9CpeeV1r9lUm/NF5riMxQCgPEjYBPXAzjx9lFxdgPnh+VRQcGzn935V6nh9LrLSXwat48h86q+pz+78qmApdZaS+BfeQ+dVfU5/d+VMBS6y0l8C+8jHzrL6nP7vypgKfWWkvgX3kZ+dZfU5/d+VMBS6y0l8C+8jHzrL6nP7vypgKXWXbL4G8eQ+ddfU7j3flTAUusu2XwN48h86y+p3Hu/KpgKXWXbL4F95F+2ddiaKOUAgSIGAYYYBhnBHjXnNWOw2kmoBQGm7m0Iz4LaVJwOpwM4FZRVrSB8/+dVfU5/d+Vel4fT6y0l8GrePIx86q+pz+78qmApdZaS+BvHkZ+dVfU5/d+VMBT6y0l8DePIx86y+pz+78qYCl1lpL4G8eQ+dZfU5/d+VMBS6y0l8DePIfOsvqc/u/KmApdZdsvgbx5D51l9TuPd+VMBS6y7ZfA3jyA+VZfU7j3VHsNKzhVXbL4LfeR9Ct5daqwBAZQcHrzGcGvNNhtoBQCgOZvD+p/wAwrp2T+p/Yxl5FQv7tYY3lk+pGpZsDJwBk4Hnr0pSuq1mogneGILqdZUGC3fjKnClQTg/4x/Osd4vuWwk2+1oXxh1BLsihiFZmjYqwUHrzHmrJTTJYZt9qRPKYo3DOq6jpIIHe04JHQ5HSpfTdgsIdjvJBKQBrXKs4aRCiMsZAchzywM1jGrFsrRMO1IMK3Gjw/wBU61w3PTyOefPl99Z345ksMDasRmEAcGXDEqpzp0achsdD3hyNL8bbosOxsn9cn3/+DWG0f02WPmdfaG3VimMRUkJbmZyvNlUvojAQDJLESfAa8ZG407J3miuJY1iB0ywtIjHkSY5OHMhXHIqTHzzz1eznQd6gMNRAo2K900HJ7QRZkAWXERIZhGdAZcZAfoTzFa94uJbD3Dt2Biw1adIcsW7qgRyGJsseX1gaKpFixnu721BGE1SL9IVCAEEtrYKGUA81yw5+2q5pCw07R3ghgdkkD5RVZysZZUVywVmYdPqt7qxlUUXYxYTP0hDlhxY8pjUNYyuemoZ5ebrWd+OZLDRd7bt44xI0qFT9XSwJbBwdIB72PZUdSKVtpbGdGsiFiutpcCGA6dTSPFEoBxzkKrknwUZY/wCGvGq/W/Vm5HItt+4nheThurR5ZkbIBhScwySxuVw4XGSB4gZ89YFLctAa7r6jf4T/AErKH1L1I/IpQFe2zSciHeGJ9WlZcK5QtwyE1iThkBuh71alVTLYe7fb0D6u/pCqGJfuqAXeMd48vrI3KslUixYbrna0KNGhdS0hAVVILHVnDY9Hl1o5xViFhHvN4IYpGjcSZUoGYRkxqZcaAzjpnIrF1EnYEiZ+kYe99LH3Dhu+vdJ5ANz5H76zvLMhoutt28aozSoRJjRpYMXDMFDKAeYyw5io6kV9y2M6OKzIWPaG11g8nUjPFJBOcBI44mkklPsAUD/MK8SX1M3ojW+9Uchg0pIEnk4YaRGjIYxGWMhWHeVlVufmNYg74oDNAczeH9T/AJhXTsn9Qxn5FL2zY+UQSw6tPFjZNWM41DGcZGffXozjei0a0zl7Q3VRwqxMsSrG6YCZBLtGS/1h9n09vs54Sop+Rbxo7IfSK/FBxIzsrI2CGn46gaZBgg8snI6HFTccfP8AnmLxK2Du8baTWZQ4EQiUCPSwQOzgu+o6m72M4HjVhSuu38WEbtObablugIW4RTw3QNHCVc8Qg5kbinVj2aT7RWCoNeT9i3jZDuXhCpmBJWVc8M8jNKJcjLk8sY65PjRbPwst/lpbxN2Zu4YZxLxQyrxdK8PD/TsrnVJq72CDjkORrONKyVvr9syN8C1bJ/XJ9/8A4pX/AKbEfM6O2N20uJi7nuPAIpFHJiY5RLCyv5tLGTIxz1fuPjo2nnZO7CW8yPGToiidEDEswaeXiTMWPUHTHgew1QWCgPLUBSK900Ffk3WQpcAFRJO7HiaO8qsVOjGrnjSPOK07lcfyZXiLcbnatX0xBLMwwhGGa5NwM4cEgZ04BHjkVi6Fv3/ltovGDucQVKyqBmIuOETkwStKNBaQlAS7AglvMabjy45e39xeNu3d1TczPKJEXXGid6Eu68NnYPG/EGlu94HoKs6N522+wUrDTLuczSvI9xq1jGGjJOnjRS4J14/9sryUfWzz88dC1tt/zgLwutziwfTMo1l9WYtXdebigL3xpIPLPn8BijoW+T9heLXXQYlhvdmGeC30sFaJ4pVJGR9GVJU/4l1DPtrxav1y9Wbkc2bceERyJEzgyrwyZGL6IXm4syRjzajn+XmGKwKWoCgNd19Rv8J/pWUPqXqR+RShXtmkr0e6qLG6hhrefitJo5kcfjaCNX+XOfbjzVp3PD+//dpleIx3OPmm5jTjuEDKSyyc9MgJBEuORHTOfNWLofn+W2i8e4d0tDxlZVCI8bleESS0MZjwjlyUUg9OfPPPnVVCxrjl7C8etqbqma4eYSIodozzhLSrwsfUl4gxnHomkqN522hSNUe554jyPPr1PG3ejPSKZpQDlyP2tPIADAOKiocW7f5baLxg7mkY0zDBKlsxZzw52mUIdfd+sVPXPI8ulNy8/b8i8WuugxLDtPZAnNs2R9ETqDDIeKSJo5I/ZnUpz/8AH214kvNm9EWLdVEa30SSFIZeLiV2kbKQtDEqlj3VUMT7axBYxQCgOFvfsue5hVLWbguHySRkMMEYPL25/dXRs1eNGV5xUvVtfoxnG1WWlP7E7T9ej+H8q7vE6fRWsvkw3T5v0OxO0/Xk+H8qeJ0+itZfI3TzHYnafr0fw/lTxOn0VrL5G7ef6HYnafryfB+VPE6fRWsvkm6eY7E7U9ej+D8qeJw6UdZfI3TzHYnanr0fwflTxOHSjrL5G6eY7E7U9eT4Pyp4nDpR1l8l3TzOlu7utfQzpJPdpJGvVQvM8vHFado25VIXVBL0b/7ZlGFnG0vVeeZmaAUB4lUkEA4OOvh7aLg7QfNX3N2pk4vI8Z5ZHPHwV6/iVLpLukad28zHY7avrcf+/wDJTxKl0V3SG7eY7HbV9bi9x/BTxKl0V3Mbt5jsbtX1uL3H8NPE6XSXdIbp5/odjdq+txe4/hp4nS6S7pDdPP8AQ7HbV9bi9x/DTxOn0l3Mbp5/ox2N2r63F7j+GnidPoruY3TzHY3avrcXuP4aeJU+ktWN08z6LsyF0hjWUhnVFDEcgWAAJArypSvSbzNxKrECgNN5EWR1U6SykA+BIxmsou7JNhnzfsbtT1yP3f8A4r1fEqXRXdI07t5jsdtX1uL/AH/kp4lS6K7pDdvMdjdq+txe7/8AFPEqXRXdIbt5jsbtX1uL3H8FPE6XSXdIbp5/odjdq+txe4/hp4lT6S7mN08/0Oxu1fXIvcfw08TpdJd0hunn+jHY3avrcXuP4aeJ0+ku5jdPP9DsbtX1uL3H8NR/8nTs/pLuZd08/wBH0m1RgihyCwUAkdCQOZFeU3a7TabqgFAKAUAoCl747fltbmPhMCDbO2hvqF+PbxhjjnyDt76A5c+/c8UkKSiAg3EkMhQEuxSdYgY4TJno3PBcg45c6A8Xm/MkoEcbIsgkQSaCdSEbShtihB6ao2bOefOgNXbyeaYpG8UcaXcK6imDwpJpY2jdeIdJzGBk6T3sYFASl36nZX0LAza4l094cB5bngcCfmcyAd7lp6Hl56A+hW4YKvEIL4GoqCFLY5kKSSBnzZNAbKAUAoBQCgPmV1vJNDtCYcVp+/IEhicZUJBrEctqyBlUFeUqls6x44oDC7/3Jt+IotiQsr6wdSFYIUlK6Y5W0tzKnLHzHH7NAbbjfO4Vn1KhaEzDSmoRsFgtZVZlOSdPHOSD0QnHPAAk3u+0saRlXtpAQ5DqHCXLpKsYtoMt+sOT52HTGRnAGm536uF4jaIdOLjSMNmPyWdIjJKdXeUB8kADGk8+fICGvygyQRzPJJDKubto5MkRtJAYeFDHz6EO5xknu0BL2xvhcGO64csETxMO4VZpYkWWFTLIc6dDI7EdMDHXngD3e79TJxyFhYxrKdHeDIISoSaU6iOHLnK8hyZevOgL5s/icNOMVMmO8UBVM+wEkj30BIoBQFE3k2uEu5UuLyW1Cxxm3WNQ3GLE8QiPQTM2rC8MdBjl3s0BGuN+Z1M4CREoJO5hg0JjuY4IxOc/+6rl1wB9U41DnQELeLfe5jhmQvDE6C5XigMNbQMiokILELJpYsck/V6YyQBNn+UCRWkjVI3kiW6LICdYFsYhCzAcwGV2Y+IHKgNM++Vwsiuk1vPH5HO44SsI5JIpol1qSSe6rMSASMK/XzAdLZW9VxPNDDGYCGebMwDcOWK3MOXhUOevEKc2IBUnn0IELeLblwHmMcjJwr9Ygi470UNn5S4wR+2Sw/yigOVY783SRPISr8e5d4zOVVI4mghnt7XUXUKWWUYPePInS3SgJFzv5cW6PxHieXy2ZNJTAWGFo/o9XEXDaXBBwxI54PM0B3N39rzNdIrSF0eW8TScEAQSpw2B9gLL+8eFAXagFAKAUAoDzQAGgFABQGRQGaAUAoBQCgFAeCoyTjnjr5/uoDNAM/799AKAZoDGaA9UBigMigM0AoDz5/8AftoDANAZoBQAGgFARorZVkkdRhpAuo+lpDBc/cPP93hQEjP+/wB9AZzQEfyZDNxSo4gjKBvOEZgSo+8qvuFASqAUB//Z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828" y="618387"/>
            <a:ext cx="9261028" cy="5386516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18606997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https://encrypted-tbn3.gstatic.com/images?q=tbn:ANd9GcRSNAQ9ofzgTdRNxHATrE-rbH28X9LKMHpxJYz6uw492sOuQO6X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2177" y="424656"/>
            <a:ext cx="5803055" cy="5770083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="" xmlns:p14="http://schemas.microsoft.com/office/powerpoint/2010/main" val="392961403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999634" y="0"/>
            <a:ext cx="4698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Electronic Piano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Oval 4"/>
          <p:cNvSpPr/>
          <p:nvPr/>
        </p:nvSpPr>
        <p:spPr>
          <a:xfrm>
            <a:off x="9362941" y="1725769"/>
            <a:ext cx="1815921" cy="208637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275009" y="4919730"/>
            <a:ext cx="785611" cy="68258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626512" y="4919726"/>
            <a:ext cx="785611" cy="68258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5885643" y="4919727"/>
            <a:ext cx="785611" cy="68258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348765" y="4919728"/>
            <a:ext cx="785611" cy="68258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2811887" y="4919729"/>
            <a:ext cx="785611" cy="68258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180693" y="2538650"/>
            <a:ext cx="693764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171593" y="2979928"/>
            <a:ext cx="675568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1209126" y="1306508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+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987348" y="2263418"/>
            <a:ext cx="1078173" cy="6823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1024316" y="2743140"/>
            <a:ext cx="1078173" cy="6823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1226183" y="3176879"/>
            <a:ext cx="600502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-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429944" y="1586869"/>
            <a:ext cx="1549495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BATTERY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9447246" y="4106129"/>
            <a:ext cx="1549495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Speaker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="" xmlns:p14="http://schemas.microsoft.com/office/powerpoint/2010/main" val="264083208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135937" y="0"/>
            <a:ext cx="758528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Electromagnetic Induction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="" xmlns:p14="http://schemas.microsoft.com/office/powerpoint/2010/main" val="239588090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310614" y="0"/>
            <a:ext cx="674652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Kirchhoff’s </a:t>
            </a:r>
            <a:r>
              <a:rPr lang="en-US" sz="54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Current </a:t>
            </a:r>
            <a:r>
              <a:rPr lang="en-US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Law</a:t>
            </a:r>
          </a:p>
        </p:txBody>
      </p:sp>
    </p:spTree>
    <p:extLst>
      <p:ext uri="{BB962C8B-B14F-4D97-AF65-F5344CB8AC3E}">
        <p14:creationId xmlns="" xmlns:p14="http://schemas.microsoft.com/office/powerpoint/2010/main" val="16745345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635223" y="0"/>
            <a:ext cx="3427606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OHM’S Law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="" xmlns:p14="http://schemas.microsoft.com/office/powerpoint/2010/main" val="319238671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038027" y="0"/>
            <a:ext cx="947201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Potentiometer as Voltage Divider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="" xmlns:p14="http://schemas.microsoft.com/office/powerpoint/2010/main" val="324090721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Charging and Discharging of Capacitor with Resistors with various values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253467228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NPN Transistor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302727883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PNP Transistor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25041554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Transistor Types NPN and PNP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301000318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 Identifying the type of Bipolar Junction Transistor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253323283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AC Generator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58273124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Communication System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12765232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527281</TotalTime>
  <Words>402</Words>
  <Application>Microsoft Office PowerPoint</Application>
  <PresentationFormat>Custom</PresentationFormat>
  <Paragraphs>241</Paragraphs>
  <Slides>53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4" baseType="lpstr">
      <vt:lpstr>Office Theme</vt:lpstr>
      <vt:lpstr>Slide 1</vt:lpstr>
      <vt:lpstr>Slide 2</vt:lpstr>
      <vt:lpstr>Slide 3</vt:lpstr>
      <vt:lpstr>Slide 4</vt:lpstr>
      <vt:lpstr>Potentiometer – a variable resistor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Zener Diode as Voltage Regulator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Charging and Discharging of Capacitor with Resistors with various values</vt:lpstr>
      <vt:lpstr>NPN Transistor</vt:lpstr>
      <vt:lpstr>PNP Transistor</vt:lpstr>
      <vt:lpstr>Transistor Types NPN and PNP</vt:lpstr>
      <vt:lpstr> Identifying the type of Bipolar Junction Transistor</vt:lpstr>
      <vt:lpstr>AC Generator</vt:lpstr>
      <vt:lpstr>Communication System</vt:lpstr>
    </vt:vector>
  </TitlesOfParts>
  <Company/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Administrator</dc:creator>
  <cp:lastModifiedBy>rohit</cp:lastModifiedBy>
  <cp:revision>292</cp:revision>
  <dcterms:created xsi:type="dcterms:W3CDTF">2014-12-28T19:56:42Z</dcterms:created>
  <dcterms:modified xsi:type="dcterms:W3CDTF">2015-01-04T09:17:14Z</dcterms:modified>
</cp:coreProperties>
</file>